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9" r:id="rId20"/>
    <p:sldId id="262" r:id="rId8"/>
    <p:sldId id="263" r:id="rId9"/>
    <p:sldId id="270" r:id="rId21"/>
    <p:sldId id="271" r:id="rId22"/>
    <p:sldId id="264" r:id="rId10"/>
    <p:sldId id="265" r:id="rId11"/>
    <p:sldId id="266" r:id="rId12"/>
    <p:sldId id="272" r:id="rId23"/>
    <p:sldId id="273" r:id="rId24"/>
    <p:sldId id="274" r:id="rId25"/>
    <p:sldId id="275" r:id="rId26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keep global instructions VERY lean to optimize token usage - they are resent on every single turn, in every project, forever, so every extra line is a permanent, repeating cost. Two rules (commit convention + sign-off) is deliberately the whole file. Anything project-specific belongs in a local skill (lab-02)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C7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949440" y="-1097280"/>
            <a:ext cx="3657600" cy="365760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1280160" y="3291840"/>
            <a:ext cx="3291840" cy="329184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6492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MEWPILOT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Copilot CLI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scrappy dev team. A demo deadline. One very capable new teammate.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Skills  ·  Scenarios  ·  Automations  ·  Budget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02168" y="201168"/>
            <a:ext cx="530352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202168" y="20116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2F3C7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97280" y="64008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7406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9am.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3566160" y="502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Team Mewpilot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566160" y="13716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task tracker.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on Friday.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GitHub Copilot CLI is about to become their most valuable teammate.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3520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"Let's go find out." — Team Mewpilot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the story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02168" y="201168"/>
            <a:ext cx="530352" cy="310896"/>
          </a:xfrm>
          <a:prstGeom prst="roundRect">
            <a:avLst>
              <a:gd name="adj" fmla="val 17647"/>
            </a:avLst>
          </a:prstGeom>
          <a:solidFill>
            <a:srgbClr val="2F3C7E"/>
          </a:solidFill>
          <a:ln/>
        </p:spPr>
      </p:sp>
      <p:sp>
        <p:nvSpPr>
          <p:cNvPr id="11" name="Text 8"/>
          <p:cNvSpPr/>
          <p:nvPr/>
        </p:nvSpPr>
        <p:spPr>
          <a:xfrm>
            <a:off x="8202168" y="20116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copilot-cli-lab/ - a shared codebase (sample-app/) the whole story runs 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is a chapter in Team Mewpilot's one-day sprint, told through the same characters.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first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runs real Copilot CLI commands against real code - not slides about theory.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how it works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202168" y="201168"/>
            <a:ext cx="530352" cy="310896"/>
          </a:xfrm>
          <a:prstGeom prst="roundRect">
            <a:avLst>
              <a:gd name="adj" fmla="val 17647"/>
            </a:avLst>
          </a:prstGeom>
          <a:solidFill>
            <a:srgbClr val="2F3C7E"/>
          </a:solidFill>
          <a:ln/>
        </p:spPr>
      </p:sp>
      <p:sp>
        <p:nvSpPr>
          <p:cNvPr id="23" name="Text 18"/>
          <p:cNvSpPr/>
          <p:nvPr/>
        </p:nvSpPr>
        <p:spPr>
          <a:xfrm>
            <a:off x="8202168" y="20116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day, seven labs, one shared codebase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17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91640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4173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auth, first prompts, confirm Auto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0" y="14173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9164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18745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instructions &amp; skills, cache tokens, switch model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18745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min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3317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91640" y="2331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23317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&amp; extend project-local skills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80960" y="23317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788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9164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Cost-Saving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0" y="27889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3-terminal research/plan/fleet, ship a feature, fix a bug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27889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60-75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246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69164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0" y="32461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Minute-level /every + GitHub Copilot App template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80960" y="32461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703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91640" y="3703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Off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57600" y="37033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 deck with the pptx skill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80960" y="37033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4160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691640" y="4160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41605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Billing, layered budgets, pricing &amp; optimization levers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680960" y="41605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min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~2.5-3 hrs solo · ~3.5-4 hrs facilitated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2F3C7E"/>
          </a:solidFill>
          <a:ln/>
        </p:spPr>
      </p:sp>
      <p:sp>
        <p:nvSpPr>
          <p:cNvPr id="38" name="Text 36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00 · SETUP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Mewpilot Gets Tooled Up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authenticate, and run GitHub Copilot CLI for the first time - against the real sample-app.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what it would fix first in this codebase.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00 · setup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01 · GLOBAL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House Rules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getting different answers. Time to set two lean house rules that apply on every project, on any laptop - and nothing more.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template, then confirm every response ends with "by mewpilot".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01 · global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02 · LOCAL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Project-Local Skills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codebase has its own quirks global rules don't cover - and real local skills are already set up. This lab is about exploring them.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review the code and watch the pre-built duplicate-task-checker skill kick in.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02 · local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03 · COST-SAVING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Smart, Not Expensive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new feature, one lingering bug, six cost-saving habits, plus three tool-choice habits: grep/glob over bash, file refs not pastes, subagents for exploration.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color-coded priority badges, fix the duplicate task-id bug, then watch /context and /usage prove the savings.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03 · cost-saving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04 · AUTOMATE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the Busywork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dumb-simple: one /every prompt that reports token usage every few minutes. Then level up with a ready-made GitHub Copilot App template.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one-line token-usage check, then browse the Copilot App's automation templates for the real morning report.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04 · automate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05 · SHOW OFF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Deck With /pptx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pptx skill that built this deck can build yours - straight from this repo's READMEs and commit history.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build a 6-8 slide demo-day deck from this repo, then present it in under 2 minutes.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05 · show off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06 · BUDGET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Keeping the Sprint Sustainable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rolling this out org-wide, the team checks seats, usage, and budget alerts in GitHub billing.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Copilot usage in Settings → Billing, and guess your monthly spend before you look.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06 · budget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737360"/>
            <a:ext cx="3291840" cy="329184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703320" y="50292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962" y="613562"/>
            <a:ext cx="784555" cy="7845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 It. Team Mewpilot Wraps Up.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Global &amp; Local Skills → Real Scenarios → Custom Skills → Daily Automations →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all with GitHub Copilot CLI as the newest member of the team.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703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go run it yourself: copilot-cli-lab/README.md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2E8FDAFA-13A3-9D22-0575-0BBDF4E9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825C07F7-6570-C1AE-4087-5957CC7E6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225" y="0"/>
            <a:ext cx="7810500" cy="1974601"/>
          </a:xfrm>
        </p:spPr>
        <p:txBody>
          <a:bodyPr spcFirstLastPara="1" wrap="square" lIns="34275" tIns="17150" rIns="34275" bIns="17150" anchor="ctr" anchorCtr="0">
            <a:normAutofit/>
          </a:bodyPr>
          <a:lstStyle/>
          <a:p>
            <a:r>
              <a:rPr lang="en-US" sz="2700" dirty="0"/>
              <a:t>Why we need custom instructions</a:t>
            </a:r>
            <a:endParaRPr lang="en-US" dirty="0"/>
          </a:p>
        </p:txBody>
      </p:sp>
      <p:sp>
        <p:nvSpPr>
          <p:cNvPr id="26" name="Subtitle 7">
            <a:extLst>
              <a:ext uri="{FF2B5EF4-FFF2-40B4-BE49-F238E27FC236}">
                <a16:creationId xmlns:a16="http://schemas.microsoft.com/office/drawing/2014/main" id="{01D76876-BA34-752E-DD35-B05DDA420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616" y="2715769"/>
            <a:ext cx="2624400" cy="292500"/>
          </a:xfrm>
        </p:spPr>
        <p:txBody>
          <a:bodyPr/>
          <a:lstStyle/>
          <a:p>
            <a:r>
              <a:rPr lang="en-US" sz="1575" dirty="0">
                <a:solidFill>
                  <a:srgbClr val="808080"/>
                </a:solidFill>
              </a:rPr>
              <a:t>Guardrails for Copilot</a:t>
            </a:r>
            <a:endParaRPr lang="en-US" dirty="0">
              <a:solidFill>
                <a:srgbClr val="808080"/>
              </a:solidFill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23B46E0D-23AB-7A6F-E43E-100F73C4E27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6616" y="3019045"/>
            <a:ext cx="2176810" cy="455820"/>
          </a:xfrm>
        </p:spPr>
        <p:txBody>
          <a:bodyPr/>
          <a:lstStyle/>
          <a:p>
            <a:r>
              <a:rPr lang="en-US" sz="1162" dirty="0"/>
              <a:t>Define rules and constraints for AI behavior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67D2AF-B6DC-0B7D-CC30-F3B42C1DEDE7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3255264" y="2715769"/>
            <a:ext cx="3028260" cy="284880"/>
          </a:xfrm>
        </p:spPr>
        <p:txBody>
          <a:bodyPr/>
          <a:lstStyle/>
          <a:p>
            <a:r>
              <a:rPr lang="en-US" sz="1575"/>
              <a:t>Consistent Agent Behavior</a:t>
            </a: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F5C5A9C-CE1D-5578-FC19-859BC2A35C5E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3255264" y="3026665"/>
            <a:ext cx="2624400" cy="448200"/>
          </a:xfrm>
        </p:spPr>
        <p:txBody>
          <a:bodyPr/>
          <a:lstStyle/>
          <a:p>
            <a:r>
              <a:rPr lang="en-US" sz="1162"/>
              <a:t>Same standards across coding and review agents</a:t>
            </a:r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A215BDF-3B60-D418-B714-6E73CAB133AD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153914" y="2715769"/>
            <a:ext cx="3028260" cy="277260"/>
          </a:xfrm>
        </p:spPr>
        <p:txBody>
          <a:bodyPr/>
          <a:lstStyle/>
          <a:p>
            <a:r>
              <a:rPr lang="en-US" sz="1575"/>
              <a:t>Repo-based Configuration</a:t>
            </a:r>
            <a:endParaRPr lang="en-US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CCAC68-A994-8C2E-F1E0-3D2C9386D9A4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153914" y="3026665"/>
            <a:ext cx="2624400" cy="448200"/>
          </a:xfrm>
        </p:spPr>
        <p:txBody>
          <a:bodyPr/>
          <a:lstStyle/>
          <a:p>
            <a:r>
              <a:rPr lang="en-US" sz="1162"/>
              <a:t>Instructions stored and versioned with code</a:t>
            </a:r>
            <a:endParaRPr lang="en-US"/>
          </a:p>
        </p:txBody>
      </p:sp>
      <p:pic>
        <p:nvPicPr>
          <p:cNvPr id="10" name="Picture Placeholder 9" descr="Shield Tick with solid fill">
            <a:extLst>
              <a:ext uri="{FF2B5EF4-FFF2-40B4-BE49-F238E27FC236}">
                <a16:creationId xmlns:a16="http://schemas.microsoft.com/office/drawing/2014/main" id="{C5148254-30FB-BC7A-AF05-E721F970508B}"/>
              </a:ext>
            </a:extLst>
          </p:cNvPr>
          <p:cNvPicPr>
            <a:picLocks noGrp="1" noChangeAspect="1"/>
          </p:cNvPicPr>
          <p:nvPr>
            <p:ph type="pic" idx="7"/>
          </p:nvPr>
        </p:nvPicPr>
        <p:blipFill>
          <a:blip r:embed="rId3"/>
          <a:srcRect/>
          <a:stretch/>
        </p:blipFill>
        <p:spPr>
          <a:xfrm>
            <a:off x="561243" y="2088863"/>
            <a:ext cx="320040" cy="32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Placeholder 10" descr="Syncing cloud with solid fill">
            <a:extLst>
              <a:ext uri="{FF2B5EF4-FFF2-40B4-BE49-F238E27FC236}">
                <a16:creationId xmlns:a16="http://schemas.microsoft.com/office/drawing/2014/main" id="{C17F6995-8186-6EAE-0ED0-BBFA0778A7B6}"/>
              </a:ext>
            </a:extLst>
          </p:cNvPr>
          <p:cNvPicPr>
            <a:picLocks noGrp="1" noChangeAspect="1"/>
          </p:cNvPicPr>
          <p:nvPr>
            <p:ph type="pic" idx="8"/>
          </p:nvPr>
        </p:nvPicPr>
        <p:blipFill>
          <a:blip r:embed="rId2"/>
          <a:srcRect t="186" b="186"/>
          <a:stretch/>
        </p:blipFill>
        <p:spPr>
          <a:xfrm>
            <a:off x="3487722" y="2092722"/>
            <a:ext cx="320040" cy="32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Placeholder 11" descr="Folder Search with solid fill">
            <a:extLst>
              <a:ext uri="{FF2B5EF4-FFF2-40B4-BE49-F238E27FC236}">
                <a16:creationId xmlns:a16="http://schemas.microsoft.com/office/drawing/2014/main" id="{3A6D7CC6-F4BF-544D-2FA3-5B9189B03BC3}"/>
              </a:ext>
            </a:extLst>
          </p:cNvPr>
          <p:cNvPicPr>
            <a:picLocks noGrp="1" noChangeAspect="1"/>
          </p:cNvPicPr>
          <p:nvPr>
            <p:ph type="pic" idx="9"/>
          </p:nvPr>
        </p:nvPicPr>
        <p:blipFill>
          <a:blip r:embed="rId4"/>
          <a:srcRect/>
          <a:stretch/>
        </p:blipFill>
        <p:spPr>
          <a:xfrm>
            <a:off x="6395376" y="2088863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Rounded Rectangle 26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01 · SOURCE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01583937-6BD9-51B1-DDD9-B407D1BAC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bgerundetes Rechteck 5">
            <a:extLst>
              <a:ext uri="{FF2B5EF4-FFF2-40B4-BE49-F238E27FC236}">
                <a16:creationId xmlns:a16="http://schemas.microsoft.com/office/drawing/2014/main" id="{EE50C3B2-9128-963B-4DDD-C105B22B2323}"/>
              </a:ext>
            </a:extLst>
          </p:cNvPr>
          <p:cNvSpPr/>
          <p:nvPr/>
        </p:nvSpPr>
        <p:spPr>
          <a:xfrm>
            <a:off x="656647" y="2191600"/>
            <a:ext cx="8184412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3DDD99-4B3C-5D27-5DF2-58A241A7DF0E}"/>
              </a:ext>
            </a:extLst>
          </p:cNvPr>
          <p:cNvSpPr/>
          <p:nvPr/>
        </p:nvSpPr>
        <p:spPr>
          <a:xfrm>
            <a:off x="670933" y="1744986"/>
            <a:ext cx="1544935" cy="621935"/>
          </a:xfrm>
          <a:prstGeom prst="rect">
            <a:avLst/>
          </a:prstGeom>
          <a:gradFill flip="none" rotWithShape="1">
            <a:gsLst>
              <a:gs pos="0">
                <a:srgbClr val="5EEC83">
                  <a:alpha val="35139"/>
                </a:srgbClr>
              </a:gs>
              <a:gs pos="98000">
                <a:srgbClr val="09241A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870E5B-AD2C-5143-254F-FFFEBA95A3C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01832" y="298662"/>
            <a:ext cx="4119442" cy="274320"/>
          </a:xfrm>
        </p:spPr>
        <p:txBody>
          <a:bodyPr/>
          <a:lstStyle/>
          <a:p>
            <a:r>
              <a:rPr lang="en-US" sz="1200" dirty="0">
                <a:latin typeface="Mona Sans Mono"/>
                <a:cs typeface="Arial"/>
              </a:rPr>
              <a:t>Agents working with </a:t>
            </a:r>
            <a:r>
              <a:rPr lang="en-US" sz="1200" dirty="0" err="1">
                <a:latin typeface="Mona Sans Mono"/>
                <a:cs typeface="Arial"/>
              </a:rPr>
              <a:t>llms</a:t>
            </a:r>
            <a:endParaRPr lang="en-US" dirty="0" err="1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7FB27D-4490-A8C7-E0A8-EEB4DC892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722" y="4946458"/>
            <a:ext cx="8623524" cy="92333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9D190F7-0B7D-DADE-DBA5-7296FB7141D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02944" y="597154"/>
            <a:ext cx="5931137" cy="422443"/>
          </a:xfrm>
        </p:spPr>
        <p:txBody>
          <a:bodyPr/>
          <a:lstStyle/>
          <a:p>
            <a:r>
              <a:rPr lang="en-US"/>
              <a:t>Context Window &amp; Tokens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9FCC19E-26A9-91EA-BDD2-D8DFB56ECA7B}"/>
              </a:ext>
            </a:extLst>
          </p:cNvPr>
          <p:cNvSpPr txBox="1">
            <a:spLocks/>
          </p:cNvSpPr>
          <p:nvPr/>
        </p:nvSpPr>
        <p:spPr>
          <a:xfrm rot="16200000">
            <a:off x="88256" y="2299817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>
                <a:solidFill>
                  <a:srgbClr val="5EEC83"/>
                </a:solidFill>
              </a:rPr>
              <a:t>1</a:t>
            </a:r>
            <a:r>
              <a:rPr lang="en-US" baseline="30000">
                <a:solidFill>
                  <a:srgbClr val="5EEC83"/>
                </a:solidFill>
              </a:rPr>
              <a:t>st</a:t>
            </a:r>
            <a:r>
              <a:rPr lang="en-US">
                <a:solidFill>
                  <a:srgbClr val="5EEC83"/>
                </a:solidFill>
              </a:rPr>
              <a:t> loop</a:t>
            </a:r>
          </a:p>
        </p:txBody>
      </p:sp>
      <p:sp>
        <p:nvSpPr>
          <p:cNvPr id="5" name="Abgerundetes Rechteck 5">
            <a:extLst>
              <a:ext uri="{FF2B5EF4-FFF2-40B4-BE49-F238E27FC236}">
                <a16:creationId xmlns:a16="http://schemas.microsoft.com/office/drawing/2014/main" id="{DB38E528-AC3D-E9CD-8767-35313C858071}"/>
              </a:ext>
            </a:extLst>
          </p:cNvPr>
          <p:cNvSpPr/>
          <p:nvPr/>
        </p:nvSpPr>
        <p:spPr>
          <a:xfrm>
            <a:off x="656647" y="3569270"/>
            <a:ext cx="8184412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C22C05CC-BA2E-DE44-1F1A-CC1066B195D3}"/>
              </a:ext>
            </a:extLst>
          </p:cNvPr>
          <p:cNvSpPr txBox="1">
            <a:spLocks/>
          </p:cNvSpPr>
          <p:nvPr/>
        </p:nvSpPr>
        <p:spPr>
          <a:xfrm rot="16200000">
            <a:off x="88256" y="3677486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>
                <a:solidFill>
                  <a:srgbClr val="5EEC83"/>
                </a:solidFill>
              </a:rPr>
              <a:t>2</a:t>
            </a:r>
            <a:r>
              <a:rPr lang="en-US" baseline="30000">
                <a:solidFill>
                  <a:srgbClr val="5EEC83"/>
                </a:solidFill>
              </a:rPr>
              <a:t>nd</a:t>
            </a:r>
            <a:r>
              <a:rPr lang="en-US">
                <a:solidFill>
                  <a:srgbClr val="5EEC83"/>
                </a:solidFill>
              </a:rPr>
              <a:t> loop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3D862AF2-D1C7-3BFF-11FB-182069D6B5C1}"/>
              </a:ext>
            </a:extLst>
          </p:cNvPr>
          <p:cNvSpPr txBox="1">
            <a:spLocks/>
          </p:cNvSpPr>
          <p:nvPr/>
        </p:nvSpPr>
        <p:spPr>
          <a:xfrm>
            <a:off x="1091552" y="1799560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Input tokens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113F8B-3D62-6BFD-7583-66DE36414C24}"/>
              </a:ext>
            </a:extLst>
          </p:cNvPr>
          <p:cNvSpPr/>
          <p:nvPr/>
        </p:nvSpPr>
        <p:spPr>
          <a:xfrm>
            <a:off x="2226406" y="1744986"/>
            <a:ext cx="729882" cy="621935"/>
          </a:xfrm>
          <a:prstGeom prst="rect">
            <a:avLst/>
          </a:prstGeom>
          <a:gradFill flip="none" rotWithShape="1">
            <a:gsLst>
              <a:gs pos="0">
                <a:srgbClr val="00B0F0">
                  <a:alpha val="35000"/>
                </a:srgbClr>
              </a:gs>
              <a:gs pos="97000">
                <a:srgbClr val="00B0F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F46CA37C-A4A1-9EB4-458E-4D2B189BCEEA}"/>
              </a:ext>
            </a:extLst>
          </p:cNvPr>
          <p:cNvSpPr txBox="1">
            <a:spLocks/>
          </p:cNvSpPr>
          <p:nvPr/>
        </p:nvSpPr>
        <p:spPr>
          <a:xfrm>
            <a:off x="2239684" y="1799560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output tokens</a:t>
            </a:r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32173FBC-4937-F023-4BEB-4390E1CC113C}"/>
              </a:ext>
            </a:extLst>
          </p:cNvPr>
          <p:cNvSpPr/>
          <p:nvPr/>
        </p:nvSpPr>
        <p:spPr>
          <a:xfrm>
            <a:off x="670933" y="2191600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&amp; TOOLS</a:t>
            </a:r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9996C316-9B82-1B82-FF3F-DDCDCAA6EFA7}"/>
              </a:ext>
            </a:extLst>
          </p:cNvPr>
          <p:cNvSpPr/>
          <p:nvPr/>
        </p:nvSpPr>
        <p:spPr>
          <a:xfrm>
            <a:off x="1140326" y="2191600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1" name="Abgerundetes Rechteck 13">
            <a:extLst>
              <a:ext uri="{FF2B5EF4-FFF2-40B4-BE49-F238E27FC236}">
                <a16:creationId xmlns:a16="http://schemas.microsoft.com/office/drawing/2014/main" id="{8BCEFE99-C064-5FCF-A287-48CC45CEFDBC}"/>
              </a:ext>
            </a:extLst>
          </p:cNvPr>
          <p:cNvSpPr/>
          <p:nvPr/>
        </p:nvSpPr>
        <p:spPr>
          <a:xfrm>
            <a:off x="2215868" y="2194346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RESPONSE</a:t>
            </a:r>
          </a:p>
        </p:txBody>
      </p:sp>
      <p:sp>
        <p:nvSpPr>
          <p:cNvPr id="12" name="Abgerundetes Rechteck 43">
            <a:extLst>
              <a:ext uri="{FF2B5EF4-FFF2-40B4-BE49-F238E27FC236}">
                <a16:creationId xmlns:a16="http://schemas.microsoft.com/office/drawing/2014/main" id="{839AD33F-7F8F-36A4-DDA6-C669CAA81728}"/>
              </a:ext>
            </a:extLst>
          </p:cNvPr>
          <p:cNvSpPr/>
          <p:nvPr/>
        </p:nvSpPr>
        <p:spPr>
          <a:xfrm>
            <a:off x="1663344" y="2193153"/>
            <a:ext cx="55252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E18A42-5FFC-1571-53DF-5CE5BB233368}"/>
              </a:ext>
            </a:extLst>
          </p:cNvPr>
          <p:cNvSpPr/>
          <p:nvPr/>
        </p:nvSpPr>
        <p:spPr>
          <a:xfrm>
            <a:off x="670932" y="3104448"/>
            <a:ext cx="2283357" cy="621935"/>
          </a:xfrm>
          <a:prstGeom prst="rect">
            <a:avLst/>
          </a:prstGeom>
          <a:gradFill flip="none" rotWithShape="1">
            <a:gsLst>
              <a:gs pos="0">
                <a:srgbClr val="20262C">
                  <a:lumMod val="50000"/>
                  <a:lumOff val="50000"/>
                  <a:alpha val="35042"/>
                </a:srgbClr>
              </a:gs>
              <a:gs pos="98000">
                <a:srgbClr val="20262C">
                  <a:lumMod val="50000"/>
                  <a:lumOff val="50000"/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4B105DF3-337F-4774-9C43-46EBFB81D6D5}"/>
              </a:ext>
            </a:extLst>
          </p:cNvPr>
          <p:cNvSpPr txBox="1">
            <a:spLocks/>
          </p:cNvSpPr>
          <p:nvPr/>
        </p:nvSpPr>
        <p:spPr>
          <a:xfrm>
            <a:off x="1068124" y="3159022"/>
            <a:ext cx="1488976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sz="600">
                <a:solidFill>
                  <a:srgbClr val="FFFFFF"/>
                </a:solidFill>
              </a:rPr>
              <a:t>Cache Input tokens</a:t>
            </a:r>
            <a:br>
              <a:rPr lang="en-US" sz="600">
                <a:solidFill>
                  <a:srgbClr val="FFFFFF"/>
                </a:solidFill>
              </a:rPr>
            </a:br>
            <a:r>
              <a:rPr lang="en-US" sz="600">
                <a:solidFill>
                  <a:srgbClr val="FFFFFF"/>
                </a:solidFill>
              </a:rPr>
              <a:t>(not guaranteed)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B19AF1-E00D-FD36-33BD-1CBF875D3146}"/>
              </a:ext>
            </a:extLst>
          </p:cNvPr>
          <p:cNvSpPr/>
          <p:nvPr/>
        </p:nvSpPr>
        <p:spPr>
          <a:xfrm>
            <a:off x="4053464" y="3104448"/>
            <a:ext cx="729882" cy="621935"/>
          </a:xfrm>
          <a:prstGeom prst="rect">
            <a:avLst/>
          </a:prstGeom>
          <a:gradFill flip="none" rotWithShape="1">
            <a:gsLst>
              <a:gs pos="0">
                <a:srgbClr val="00B0F0">
                  <a:alpha val="35000"/>
                </a:srgbClr>
              </a:gs>
              <a:gs pos="97000">
                <a:srgbClr val="00B0F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4F82C1A1-7123-6235-C947-DA81ABAF7556}"/>
              </a:ext>
            </a:extLst>
          </p:cNvPr>
          <p:cNvSpPr txBox="1">
            <a:spLocks/>
          </p:cNvSpPr>
          <p:nvPr/>
        </p:nvSpPr>
        <p:spPr>
          <a:xfrm>
            <a:off x="4066742" y="3159022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output tokens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E2B1880-08A3-3B18-F78E-FD1661DB1ABE}"/>
              </a:ext>
            </a:extLst>
          </p:cNvPr>
          <p:cNvSpPr/>
          <p:nvPr/>
        </p:nvSpPr>
        <p:spPr>
          <a:xfrm>
            <a:off x="2971094" y="3104448"/>
            <a:ext cx="1071646" cy="621935"/>
          </a:xfrm>
          <a:prstGeom prst="rect">
            <a:avLst/>
          </a:prstGeom>
          <a:gradFill flip="none" rotWithShape="1">
            <a:gsLst>
              <a:gs pos="0">
                <a:srgbClr val="5EEC83">
                  <a:alpha val="35139"/>
                </a:srgbClr>
              </a:gs>
              <a:gs pos="98000">
                <a:srgbClr val="09241A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9" name="Text Placeholder 1">
            <a:extLst>
              <a:ext uri="{FF2B5EF4-FFF2-40B4-BE49-F238E27FC236}">
                <a16:creationId xmlns:a16="http://schemas.microsoft.com/office/drawing/2014/main" id="{F109632F-971C-518F-502A-5C99B3DB4BAF}"/>
              </a:ext>
            </a:extLst>
          </p:cNvPr>
          <p:cNvSpPr txBox="1">
            <a:spLocks/>
          </p:cNvSpPr>
          <p:nvPr/>
        </p:nvSpPr>
        <p:spPr>
          <a:xfrm>
            <a:off x="3138862" y="3159022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Input tokens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045C0F0-19E5-ACDA-1CB3-26EB2E02ACFC}"/>
              </a:ext>
            </a:extLst>
          </p:cNvPr>
          <p:cNvCxnSpPr>
            <a:cxnSpLocks/>
          </p:cNvCxnSpPr>
          <p:nvPr/>
        </p:nvCxnSpPr>
        <p:spPr>
          <a:xfrm>
            <a:off x="8841058" y="1590085"/>
            <a:ext cx="0" cy="2576409"/>
          </a:xfrm>
          <a:prstGeom prst="line">
            <a:avLst/>
          </a:prstGeom>
          <a:ln>
            <a:solidFill>
              <a:srgbClr val="5EEC83"/>
            </a:solidFill>
            <a:prstDash val="sysDot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A491FAA-BA44-48D0-27CA-BCB1813E4179}"/>
              </a:ext>
            </a:extLst>
          </p:cNvPr>
          <p:cNvSpPr txBox="1">
            <a:spLocks/>
          </p:cNvSpPr>
          <p:nvPr/>
        </p:nvSpPr>
        <p:spPr>
          <a:xfrm>
            <a:off x="7799890" y="1593214"/>
            <a:ext cx="939410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600" err="1">
                <a:solidFill>
                  <a:srgbClr val="FFFFFF"/>
                </a:solidFill>
              </a:rPr>
              <a:t>Llm</a:t>
            </a:r>
            <a:r>
              <a:rPr lang="en-US" sz="600">
                <a:solidFill>
                  <a:srgbClr val="FFFFFF"/>
                </a:solidFill>
              </a:rPr>
              <a:t> specific limit</a:t>
            </a:r>
          </a:p>
        </p:txBody>
      </p:sp>
      <p:sp>
        <p:nvSpPr>
          <p:cNvPr id="13" name="Abgerundetes Rechteck 6">
            <a:extLst>
              <a:ext uri="{FF2B5EF4-FFF2-40B4-BE49-F238E27FC236}">
                <a16:creationId xmlns:a16="http://schemas.microsoft.com/office/drawing/2014/main" id="{90657A92-7089-F10B-C783-1E18ECA2FBF5}"/>
              </a:ext>
            </a:extLst>
          </p:cNvPr>
          <p:cNvSpPr/>
          <p:nvPr/>
        </p:nvSpPr>
        <p:spPr>
          <a:xfrm>
            <a:off x="670933" y="3569270"/>
            <a:ext cx="469392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14" name="Abgerundetes Rechteck 7">
            <a:extLst>
              <a:ext uri="{FF2B5EF4-FFF2-40B4-BE49-F238E27FC236}">
                <a16:creationId xmlns:a16="http://schemas.microsoft.com/office/drawing/2014/main" id="{4A000C4F-A91C-0137-2CD5-84DB4F278415}"/>
              </a:ext>
            </a:extLst>
          </p:cNvPr>
          <p:cNvSpPr/>
          <p:nvPr/>
        </p:nvSpPr>
        <p:spPr>
          <a:xfrm>
            <a:off x="1140326" y="3569269"/>
            <a:ext cx="523019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5" name="Abgerundetes Rechteck 13">
            <a:extLst>
              <a:ext uri="{FF2B5EF4-FFF2-40B4-BE49-F238E27FC236}">
                <a16:creationId xmlns:a16="http://schemas.microsoft.com/office/drawing/2014/main" id="{C91F3609-065F-AE4C-8A41-79920C328E45}"/>
              </a:ext>
            </a:extLst>
          </p:cNvPr>
          <p:cNvSpPr/>
          <p:nvPr/>
        </p:nvSpPr>
        <p:spPr>
          <a:xfrm>
            <a:off x="2215868" y="3572015"/>
            <a:ext cx="751330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RESPONSE</a:t>
            </a:r>
          </a:p>
        </p:txBody>
      </p:sp>
      <p:sp>
        <p:nvSpPr>
          <p:cNvPr id="16" name="Abgerundetes Rechteck 43">
            <a:extLst>
              <a:ext uri="{FF2B5EF4-FFF2-40B4-BE49-F238E27FC236}">
                <a16:creationId xmlns:a16="http://schemas.microsoft.com/office/drawing/2014/main" id="{699D3EE2-B09E-8CED-0C6B-BD0860F5E3B9}"/>
              </a:ext>
            </a:extLst>
          </p:cNvPr>
          <p:cNvSpPr/>
          <p:nvPr/>
        </p:nvSpPr>
        <p:spPr>
          <a:xfrm>
            <a:off x="1663344" y="3570822"/>
            <a:ext cx="552524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17" name="Abgerundetes Rechteck 7">
            <a:extLst>
              <a:ext uri="{FF2B5EF4-FFF2-40B4-BE49-F238E27FC236}">
                <a16:creationId xmlns:a16="http://schemas.microsoft.com/office/drawing/2014/main" id="{89DAD4F4-BA5F-AE70-BBB8-CE66B306BE9C}"/>
              </a:ext>
            </a:extLst>
          </p:cNvPr>
          <p:cNvSpPr/>
          <p:nvPr/>
        </p:nvSpPr>
        <p:spPr>
          <a:xfrm>
            <a:off x="2967198" y="3569269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8" name="Abgerundetes Rechteck 13">
            <a:extLst>
              <a:ext uri="{FF2B5EF4-FFF2-40B4-BE49-F238E27FC236}">
                <a16:creationId xmlns:a16="http://schemas.microsoft.com/office/drawing/2014/main" id="{12BDB656-7B08-C590-4BB0-B07F97C7CEEE}"/>
              </a:ext>
            </a:extLst>
          </p:cNvPr>
          <p:cNvSpPr/>
          <p:nvPr/>
        </p:nvSpPr>
        <p:spPr>
          <a:xfrm>
            <a:off x="4042741" y="3572015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RESPONSE</a:t>
            </a:r>
          </a:p>
        </p:txBody>
      </p:sp>
      <p:sp>
        <p:nvSpPr>
          <p:cNvPr id="19" name="Abgerundetes Rechteck 43">
            <a:extLst>
              <a:ext uri="{FF2B5EF4-FFF2-40B4-BE49-F238E27FC236}">
                <a16:creationId xmlns:a16="http://schemas.microsoft.com/office/drawing/2014/main" id="{E405637F-CD28-0980-71C4-601E03DA1563}"/>
              </a:ext>
            </a:extLst>
          </p:cNvPr>
          <p:cNvSpPr/>
          <p:nvPr/>
        </p:nvSpPr>
        <p:spPr>
          <a:xfrm>
            <a:off x="3490216" y="3570822"/>
            <a:ext cx="55252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01 · SOURCE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7B4BD0AD-4239-278C-CD6A-DAB1E5FE6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8590C3-2BBF-E6E0-DF62-2F9F51389A14}"/>
              </a:ext>
            </a:extLst>
          </p:cNvPr>
          <p:cNvSpPr/>
          <p:nvPr/>
        </p:nvSpPr>
        <p:spPr>
          <a:xfrm>
            <a:off x="1192" y="0"/>
            <a:ext cx="9141619" cy="1796894"/>
          </a:xfrm>
          <a:prstGeom prst="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A33CCEA-C50A-1532-DCA9-9C97C110F84E}"/>
              </a:ext>
            </a:extLst>
          </p:cNvPr>
          <p:cNvSpPr txBox="1">
            <a:spLocks/>
          </p:cNvSpPr>
          <p:nvPr/>
        </p:nvSpPr>
        <p:spPr>
          <a:xfrm>
            <a:off x="285751" y="3143756"/>
            <a:ext cx="3981962" cy="1784179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Reasoning models (Opus, GPT-5.5) </a:t>
            </a:r>
            <a:b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</a:b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for sync tasks like planning, architecture, debugging.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Mid-tier models (Sonnet, GPT5.4) </a:t>
            </a:r>
            <a:b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</a:b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for async implementation.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Low-tier (Haiku, GPT-mini) </a:t>
            </a:r>
            <a:b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</a:b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for small </a:t>
            </a:r>
            <a:r>
              <a:rPr lang="en-US" sz="1200" err="1">
                <a:solidFill>
                  <a:srgbClr val="B0BAC3"/>
                </a:solidFill>
                <a:latin typeface="Mona Sans" pitchFamily="2" charset="77"/>
                <a:cs typeface="Arial"/>
              </a:rPr>
              <a:t>refactorings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, repetitive tasks, doc updates.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Auto Mode 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as the lazy default.</a:t>
            </a:r>
            <a:endParaRPr lang="en-US" sz="1200">
              <a:solidFill>
                <a:srgbClr val="B0BAC3"/>
              </a:solidFill>
              <a:latin typeface="Mona Sans" pitchFamily="2" charset="77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4A9A4B-FA4F-93EC-462C-AC04EB500FB1}"/>
              </a:ext>
            </a:extLst>
          </p:cNvPr>
          <p:cNvSpPr txBox="1">
            <a:spLocks/>
          </p:cNvSpPr>
          <p:nvPr/>
        </p:nvSpPr>
        <p:spPr>
          <a:xfrm>
            <a:off x="285751" y="342917"/>
            <a:ext cx="7453449" cy="1195886"/>
          </a:xfrm>
          <a:prstGeom prst="rect">
            <a:avLst/>
          </a:prstGeom>
        </p:spPr>
        <p:txBody>
          <a:bodyPr wrap="square" lIns="0" tIns="45708" rIns="0" bIns="45708" anchor="t">
            <a:spAutoFit/>
          </a:bodyPr>
          <a:lstStyle>
            <a:lvl1pPr algn="l" defTabSz="9140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99" b="1" i="0" kern="1200">
                <a:solidFill>
                  <a:srgbClr val="FFFFFF"/>
                </a:solidFill>
                <a:latin typeface="Mona-Sans" pitchFamily="2" charset="77"/>
                <a:ea typeface="+mj-ea"/>
                <a:cs typeface="Arial" panose="020B0604020202020204" pitchFamily="34" charset="0"/>
              </a:defRPr>
            </a:lvl1pPr>
          </a:lstStyle>
          <a:p>
            <a:pPr>
              <a:lnSpc>
                <a:spcPct val="80000"/>
              </a:lnSpc>
              <a:spcAft>
                <a:spcPts val="1800"/>
              </a:spcAft>
            </a:pPr>
            <a:r>
              <a:rPr lang="en-US" sz="4500" b="0">
                <a:solidFill>
                  <a:srgbClr val="FFFFFF"/>
                </a:solidFill>
                <a:latin typeface="Arial" panose="020B0604020202020204"/>
                <a:cs typeface="Mona Sans SemiBold" pitchFamily="2" charset="77"/>
              </a:rPr>
              <a:t>The two biggest levers for </a:t>
            </a:r>
            <a:r>
              <a:rPr lang="en-US" sz="4500" b="0">
                <a:solidFill>
                  <a:srgbClr val="5EEC83"/>
                </a:solidFill>
                <a:latin typeface="Arial" panose="020B0604020202020204"/>
                <a:cs typeface="Mona Sans SemiBold" pitchFamily="2" charset="77"/>
              </a:rPr>
              <a:t>optimizing quality &amp; tokens</a:t>
            </a:r>
          </a:p>
        </p:txBody>
      </p:sp>
      <p:grpSp>
        <p:nvGrpSpPr>
          <p:cNvPr id="8" name="Google Shape;1420;p66">
            <a:extLst>
              <a:ext uri="{FF2B5EF4-FFF2-40B4-BE49-F238E27FC236}">
                <a16:creationId xmlns:a16="http://schemas.microsoft.com/office/drawing/2014/main" id="{DADC854B-4E2B-B188-D1E9-18C92A031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85791" y="2111219"/>
            <a:ext cx="252217" cy="189136"/>
            <a:chOff x="2645062" y="1457438"/>
            <a:chExt cx="47456" cy="35588"/>
          </a:xfrm>
          <a:solidFill>
            <a:srgbClr val="FFFFFF"/>
          </a:solidFill>
        </p:grpSpPr>
        <p:sp>
          <p:nvSpPr>
            <p:cNvPr id="9" name="Google Shape;1421;p66">
              <a:extLst>
                <a:ext uri="{FF2B5EF4-FFF2-40B4-BE49-F238E27FC236}">
                  <a16:creationId xmlns:a16="http://schemas.microsoft.com/office/drawing/2014/main" id="{A97CB40B-D85A-7772-5293-7CCA57B89333}"/>
                </a:ext>
              </a:extLst>
            </p:cNvPr>
            <p:cNvSpPr/>
            <p:nvPr/>
          </p:nvSpPr>
          <p:spPr>
            <a:xfrm>
              <a:off x="2654869" y="1468200"/>
              <a:ext cx="8550" cy="13931"/>
            </a:xfrm>
            <a:custGeom>
              <a:avLst/>
              <a:gdLst/>
              <a:ahLst/>
              <a:cxnLst/>
              <a:rect l="l" t="t" r="r" b="b"/>
              <a:pathLst>
                <a:path w="456" h="743" extrusionOk="0">
                  <a:moveTo>
                    <a:pt x="85" y="0"/>
                  </a:moveTo>
                  <a:cubicBezTo>
                    <a:pt x="63" y="0"/>
                    <a:pt x="42" y="8"/>
                    <a:pt x="26" y="25"/>
                  </a:cubicBezTo>
                  <a:cubicBezTo>
                    <a:pt x="0" y="59"/>
                    <a:pt x="0" y="110"/>
                    <a:pt x="26" y="135"/>
                  </a:cubicBezTo>
                  <a:lnTo>
                    <a:pt x="262" y="371"/>
                  </a:lnTo>
                  <a:lnTo>
                    <a:pt x="26" y="607"/>
                  </a:lnTo>
                  <a:cubicBezTo>
                    <a:pt x="0" y="632"/>
                    <a:pt x="0" y="683"/>
                    <a:pt x="26" y="717"/>
                  </a:cubicBezTo>
                  <a:cubicBezTo>
                    <a:pt x="42" y="734"/>
                    <a:pt x="63" y="742"/>
                    <a:pt x="85" y="742"/>
                  </a:cubicBezTo>
                  <a:cubicBezTo>
                    <a:pt x="106" y="742"/>
                    <a:pt x="127" y="734"/>
                    <a:pt x="144" y="717"/>
                  </a:cubicBezTo>
                  <a:lnTo>
                    <a:pt x="430" y="430"/>
                  </a:lnTo>
                  <a:cubicBezTo>
                    <a:pt x="447" y="413"/>
                    <a:pt x="456" y="388"/>
                    <a:pt x="456" y="371"/>
                  </a:cubicBezTo>
                  <a:cubicBezTo>
                    <a:pt x="456" y="354"/>
                    <a:pt x="447" y="329"/>
                    <a:pt x="430" y="312"/>
                  </a:cubicBezTo>
                  <a:lnTo>
                    <a:pt x="144" y="25"/>
                  </a:lnTo>
                  <a:cubicBezTo>
                    <a:pt x="127" y="8"/>
                    <a:pt x="106" y="0"/>
                    <a:pt x="8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" name="Google Shape;1422;p66">
              <a:extLst>
                <a:ext uri="{FF2B5EF4-FFF2-40B4-BE49-F238E27FC236}">
                  <a16:creationId xmlns:a16="http://schemas.microsoft.com/office/drawing/2014/main" id="{EDE27E4C-B3C9-174A-5C87-B806CD598E0B}"/>
                </a:ext>
              </a:extLst>
            </p:cNvPr>
            <p:cNvSpPr/>
            <p:nvPr/>
          </p:nvSpPr>
          <p:spPr>
            <a:xfrm>
              <a:off x="2665781" y="1479094"/>
              <a:ext cx="12975" cy="3038"/>
            </a:xfrm>
            <a:custGeom>
              <a:avLst/>
              <a:gdLst/>
              <a:ahLst/>
              <a:cxnLst/>
              <a:rect l="l" t="t" r="r" b="b"/>
              <a:pathLst>
                <a:path w="692" h="162" extrusionOk="0">
                  <a:moveTo>
                    <a:pt x="84" y="1"/>
                  </a:moveTo>
                  <a:cubicBezTo>
                    <a:pt x="34" y="1"/>
                    <a:pt x="0" y="35"/>
                    <a:pt x="0" y="77"/>
                  </a:cubicBezTo>
                  <a:cubicBezTo>
                    <a:pt x="0" y="127"/>
                    <a:pt x="34" y="161"/>
                    <a:pt x="84" y="161"/>
                  </a:cubicBezTo>
                  <a:lnTo>
                    <a:pt x="607" y="161"/>
                  </a:lnTo>
                  <a:cubicBezTo>
                    <a:pt x="649" y="161"/>
                    <a:pt x="692" y="127"/>
                    <a:pt x="692" y="77"/>
                  </a:cubicBezTo>
                  <a:cubicBezTo>
                    <a:pt x="692" y="35"/>
                    <a:pt x="649" y="1"/>
                    <a:pt x="60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" name="Google Shape;1423;p66">
              <a:extLst>
                <a:ext uri="{FF2B5EF4-FFF2-40B4-BE49-F238E27FC236}">
                  <a16:creationId xmlns:a16="http://schemas.microsoft.com/office/drawing/2014/main" id="{6DFB6B8B-C5B3-36CA-E4D1-47D6099F1FBD}"/>
                </a:ext>
              </a:extLst>
            </p:cNvPr>
            <p:cNvSpPr/>
            <p:nvPr/>
          </p:nvSpPr>
          <p:spPr>
            <a:xfrm>
              <a:off x="2645062" y="1457438"/>
              <a:ext cx="47456" cy="35588"/>
            </a:xfrm>
            <a:custGeom>
              <a:avLst/>
              <a:gdLst/>
              <a:ahLst/>
              <a:cxnLst/>
              <a:rect l="l" t="t" r="r" b="b"/>
              <a:pathLst>
                <a:path w="2531" h="1898" extrusionOk="0">
                  <a:moveTo>
                    <a:pt x="0" y="178"/>
                  </a:moveTo>
                  <a:cubicBezTo>
                    <a:pt x="0" y="76"/>
                    <a:pt x="85" y="1"/>
                    <a:pt x="186" y="1"/>
                  </a:cubicBezTo>
                  <a:lnTo>
                    <a:pt x="2345" y="1"/>
                  </a:lnTo>
                  <a:cubicBezTo>
                    <a:pt x="2446" y="1"/>
                    <a:pt x="2530" y="76"/>
                    <a:pt x="2530" y="178"/>
                  </a:cubicBezTo>
                  <a:lnTo>
                    <a:pt x="2530" y="1712"/>
                  </a:lnTo>
                  <a:cubicBezTo>
                    <a:pt x="2530" y="1814"/>
                    <a:pt x="2446" y="1898"/>
                    <a:pt x="2345" y="1898"/>
                  </a:cubicBezTo>
                  <a:lnTo>
                    <a:pt x="186" y="1898"/>
                  </a:lnTo>
                  <a:cubicBezTo>
                    <a:pt x="85" y="1898"/>
                    <a:pt x="0" y="1814"/>
                    <a:pt x="0" y="1712"/>
                  </a:cubicBezTo>
                  <a:close/>
                  <a:moveTo>
                    <a:pt x="186" y="152"/>
                  </a:moveTo>
                  <a:cubicBezTo>
                    <a:pt x="169" y="152"/>
                    <a:pt x="161" y="169"/>
                    <a:pt x="161" y="178"/>
                  </a:cubicBezTo>
                  <a:lnTo>
                    <a:pt x="161" y="1712"/>
                  </a:lnTo>
                  <a:cubicBezTo>
                    <a:pt x="161" y="1721"/>
                    <a:pt x="169" y="1738"/>
                    <a:pt x="186" y="1738"/>
                  </a:cubicBezTo>
                  <a:lnTo>
                    <a:pt x="2345" y="1738"/>
                  </a:lnTo>
                  <a:cubicBezTo>
                    <a:pt x="2362" y="1738"/>
                    <a:pt x="2370" y="1721"/>
                    <a:pt x="2370" y="1712"/>
                  </a:cubicBezTo>
                  <a:lnTo>
                    <a:pt x="2370" y="178"/>
                  </a:lnTo>
                  <a:cubicBezTo>
                    <a:pt x="2370" y="169"/>
                    <a:pt x="2362" y="152"/>
                    <a:pt x="2345" y="15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D8035C0-0CF1-8CA0-96BB-7209A215147E}"/>
              </a:ext>
            </a:extLst>
          </p:cNvPr>
          <p:cNvCxnSpPr>
            <a:cxnSpLocks/>
          </p:cNvCxnSpPr>
          <p:nvPr/>
        </p:nvCxnSpPr>
        <p:spPr>
          <a:xfrm>
            <a:off x="4572000" y="1824537"/>
            <a:ext cx="0" cy="3318964"/>
          </a:xfrm>
          <a:prstGeom prst="line">
            <a:avLst/>
          </a:prstGeom>
          <a:ln w="9525">
            <a:solidFill>
              <a:srgbClr val="5A615C"/>
            </a:solidFill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cxnSp>
        <p:nvCxnSpPr>
          <p:cNvPr id="24" name="!!line">
            <a:extLst>
              <a:ext uri="{FF2B5EF4-FFF2-40B4-BE49-F238E27FC236}">
                <a16:creationId xmlns:a16="http://schemas.microsoft.com/office/drawing/2014/main" id="{AE942555-1E41-0ACB-E46F-5BC658A5A3AD}"/>
              </a:ext>
            </a:extLst>
          </p:cNvPr>
          <p:cNvCxnSpPr>
            <a:cxnSpLocks/>
          </p:cNvCxnSpPr>
          <p:nvPr/>
        </p:nvCxnSpPr>
        <p:spPr>
          <a:xfrm>
            <a:off x="1192" y="1805267"/>
            <a:ext cx="9141619" cy="0"/>
          </a:xfrm>
          <a:prstGeom prst="line">
            <a:avLst/>
          </a:prstGeom>
          <a:ln w="19050">
            <a:solidFill>
              <a:srgbClr val="0EBE3D"/>
            </a:solidFill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A78A66F-9C9E-CC2A-4097-F843ACE9D2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443" t="23324" b="13320"/>
          <a:stretch>
            <a:fillRect/>
          </a:stretch>
        </p:blipFill>
        <p:spPr>
          <a:xfrm rot="16200000">
            <a:off x="7453578" y="-430260"/>
            <a:ext cx="1809326" cy="2644981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AA5B429-A757-D8BA-1005-9483AC8C37C1}"/>
              </a:ext>
            </a:extLst>
          </p:cNvPr>
          <p:cNvSpPr txBox="1">
            <a:spLocks/>
          </p:cNvSpPr>
          <p:nvPr/>
        </p:nvSpPr>
        <p:spPr>
          <a:xfrm>
            <a:off x="285750" y="2429444"/>
            <a:ext cx="3981966" cy="428578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sp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>
                <a:solidFill>
                  <a:srgbClr val="2B2118"/>
                </a:solidFill>
                <a:latin typeface="Arial" panose="020B0604020202020204"/>
                <a:cs typeface="Mona Sans Medium" pitchFamily="2" charset="77"/>
              </a:rPr>
              <a:t>Model choice &amp; auto mode</a:t>
            </a:r>
            <a:endParaRPr lang="en-US" sz="2400">
              <a:solidFill>
                <a:srgbClr val="B0BAC3"/>
              </a:solidFill>
              <a:latin typeface="Arial" panose="020B0604020202020204"/>
            </a:endParaRP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20DAEC3-F42F-B5BF-C48E-D81525FE808A}"/>
              </a:ext>
            </a:extLst>
          </p:cNvPr>
          <p:cNvSpPr txBox="1">
            <a:spLocks/>
          </p:cNvSpPr>
          <p:nvPr/>
        </p:nvSpPr>
        <p:spPr>
          <a:xfrm>
            <a:off x="4873935" y="3143756"/>
            <a:ext cx="3484306" cy="1784179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As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much as required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, as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little as necessary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Context Engineering as your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guidance and upskill potential.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Compacting sessions can be helpful – but they can also lead to valuable information being lost.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Used it cautiously.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Use /clear often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, for each new task.</a:t>
            </a:r>
          </a:p>
        </p:txBody>
      </p:sp>
      <p:grpSp>
        <p:nvGrpSpPr>
          <p:cNvPr id="23" name="Google Shape;1420;p66">
            <a:extLst>
              <a:ext uri="{FF2B5EF4-FFF2-40B4-BE49-F238E27FC236}">
                <a16:creationId xmlns:a16="http://schemas.microsoft.com/office/drawing/2014/main" id="{C44E5E5F-EC83-D5E4-7A84-85C7CECD6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73976" y="2111219"/>
            <a:ext cx="252217" cy="189136"/>
            <a:chOff x="2645062" y="1457438"/>
            <a:chExt cx="47456" cy="35588"/>
          </a:xfrm>
          <a:solidFill>
            <a:srgbClr val="FFFFFF"/>
          </a:solidFill>
        </p:grpSpPr>
        <p:sp>
          <p:nvSpPr>
            <p:cNvPr id="25" name="Google Shape;1421;p66">
              <a:extLst>
                <a:ext uri="{FF2B5EF4-FFF2-40B4-BE49-F238E27FC236}">
                  <a16:creationId xmlns:a16="http://schemas.microsoft.com/office/drawing/2014/main" id="{BDFDE0EC-72DA-FB28-D30F-812354749C6C}"/>
                </a:ext>
              </a:extLst>
            </p:cNvPr>
            <p:cNvSpPr/>
            <p:nvPr/>
          </p:nvSpPr>
          <p:spPr>
            <a:xfrm>
              <a:off x="2654869" y="1468200"/>
              <a:ext cx="8550" cy="13931"/>
            </a:xfrm>
            <a:custGeom>
              <a:avLst/>
              <a:gdLst/>
              <a:ahLst/>
              <a:cxnLst/>
              <a:rect l="l" t="t" r="r" b="b"/>
              <a:pathLst>
                <a:path w="456" h="743" extrusionOk="0">
                  <a:moveTo>
                    <a:pt x="85" y="0"/>
                  </a:moveTo>
                  <a:cubicBezTo>
                    <a:pt x="63" y="0"/>
                    <a:pt x="42" y="8"/>
                    <a:pt x="26" y="25"/>
                  </a:cubicBezTo>
                  <a:cubicBezTo>
                    <a:pt x="0" y="59"/>
                    <a:pt x="0" y="110"/>
                    <a:pt x="26" y="135"/>
                  </a:cubicBezTo>
                  <a:lnTo>
                    <a:pt x="262" y="371"/>
                  </a:lnTo>
                  <a:lnTo>
                    <a:pt x="26" y="607"/>
                  </a:lnTo>
                  <a:cubicBezTo>
                    <a:pt x="0" y="632"/>
                    <a:pt x="0" y="683"/>
                    <a:pt x="26" y="717"/>
                  </a:cubicBezTo>
                  <a:cubicBezTo>
                    <a:pt x="42" y="734"/>
                    <a:pt x="63" y="742"/>
                    <a:pt x="85" y="742"/>
                  </a:cubicBezTo>
                  <a:cubicBezTo>
                    <a:pt x="106" y="742"/>
                    <a:pt x="127" y="734"/>
                    <a:pt x="144" y="717"/>
                  </a:cubicBezTo>
                  <a:lnTo>
                    <a:pt x="430" y="430"/>
                  </a:lnTo>
                  <a:cubicBezTo>
                    <a:pt x="447" y="413"/>
                    <a:pt x="456" y="388"/>
                    <a:pt x="456" y="371"/>
                  </a:cubicBezTo>
                  <a:cubicBezTo>
                    <a:pt x="456" y="354"/>
                    <a:pt x="447" y="329"/>
                    <a:pt x="430" y="312"/>
                  </a:cubicBezTo>
                  <a:lnTo>
                    <a:pt x="144" y="25"/>
                  </a:lnTo>
                  <a:cubicBezTo>
                    <a:pt x="127" y="8"/>
                    <a:pt x="106" y="0"/>
                    <a:pt x="8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" name="Google Shape;1422;p66">
              <a:extLst>
                <a:ext uri="{FF2B5EF4-FFF2-40B4-BE49-F238E27FC236}">
                  <a16:creationId xmlns:a16="http://schemas.microsoft.com/office/drawing/2014/main" id="{523DAF1A-2E99-D3FB-FBA7-F3E99193C992}"/>
                </a:ext>
              </a:extLst>
            </p:cNvPr>
            <p:cNvSpPr/>
            <p:nvPr/>
          </p:nvSpPr>
          <p:spPr>
            <a:xfrm>
              <a:off x="2665781" y="1479094"/>
              <a:ext cx="12975" cy="3038"/>
            </a:xfrm>
            <a:custGeom>
              <a:avLst/>
              <a:gdLst/>
              <a:ahLst/>
              <a:cxnLst/>
              <a:rect l="l" t="t" r="r" b="b"/>
              <a:pathLst>
                <a:path w="692" h="162" extrusionOk="0">
                  <a:moveTo>
                    <a:pt x="84" y="1"/>
                  </a:moveTo>
                  <a:cubicBezTo>
                    <a:pt x="34" y="1"/>
                    <a:pt x="0" y="35"/>
                    <a:pt x="0" y="77"/>
                  </a:cubicBezTo>
                  <a:cubicBezTo>
                    <a:pt x="0" y="127"/>
                    <a:pt x="34" y="161"/>
                    <a:pt x="84" y="161"/>
                  </a:cubicBezTo>
                  <a:lnTo>
                    <a:pt x="607" y="161"/>
                  </a:lnTo>
                  <a:cubicBezTo>
                    <a:pt x="649" y="161"/>
                    <a:pt x="692" y="127"/>
                    <a:pt x="692" y="77"/>
                  </a:cubicBezTo>
                  <a:cubicBezTo>
                    <a:pt x="692" y="35"/>
                    <a:pt x="649" y="1"/>
                    <a:pt x="60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" name="Google Shape;1423;p66">
              <a:extLst>
                <a:ext uri="{FF2B5EF4-FFF2-40B4-BE49-F238E27FC236}">
                  <a16:creationId xmlns:a16="http://schemas.microsoft.com/office/drawing/2014/main" id="{588BE07E-61FC-6D79-24B1-92C19A3C953F}"/>
                </a:ext>
              </a:extLst>
            </p:cNvPr>
            <p:cNvSpPr/>
            <p:nvPr/>
          </p:nvSpPr>
          <p:spPr>
            <a:xfrm>
              <a:off x="2645062" y="1457438"/>
              <a:ext cx="47456" cy="35588"/>
            </a:xfrm>
            <a:custGeom>
              <a:avLst/>
              <a:gdLst/>
              <a:ahLst/>
              <a:cxnLst/>
              <a:rect l="l" t="t" r="r" b="b"/>
              <a:pathLst>
                <a:path w="2531" h="1898" extrusionOk="0">
                  <a:moveTo>
                    <a:pt x="0" y="178"/>
                  </a:moveTo>
                  <a:cubicBezTo>
                    <a:pt x="0" y="76"/>
                    <a:pt x="85" y="1"/>
                    <a:pt x="186" y="1"/>
                  </a:cubicBezTo>
                  <a:lnTo>
                    <a:pt x="2345" y="1"/>
                  </a:lnTo>
                  <a:cubicBezTo>
                    <a:pt x="2446" y="1"/>
                    <a:pt x="2530" y="76"/>
                    <a:pt x="2530" y="178"/>
                  </a:cubicBezTo>
                  <a:lnTo>
                    <a:pt x="2530" y="1712"/>
                  </a:lnTo>
                  <a:cubicBezTo>
                    <a:pt x="2530" y="1814"/>
                    <a:pt x="2446" y="1898"/>
                    <a:pt x="2345" y="1898"/>
                  </a:cubicBezTo>
                  <a:lnTo>
                    <a:pt x="186" y="1898"/>
                  </a:lnTo>
                  <a:cubicBezTo>
                    <a:pt x="85" y="1898"/>
                    <a:pt x="0" y="1814"/>
                    <a:pt x="0" y="1712"/>
                  </a:cubicBezTo>
                  <a:close/>
                  <a:moveTo>
                    <a:pt x="186" y="152"/>
                  </a:moveTo>
                  <a:cubicBezTo>
                    <a:pt x="169" y="152"/>
                    <a:pt x="161" y="169"/>
                    <a:pt x="161" y="178"/>
                  </a:cubicBezTo>
                  <a:lnTo>
                    <a:pt x="161" y="1712"/>
                  </a:lnTo>
                  <a:cubicBezTo>
                    <a:pt x="161" y="1721"/>
                    <a:pt x="169" y="1738"/>
                    <a:pt x="186" y="1738"/>
                  </a:cubicBezTo>
                  <a:lnTo>
                    <a:pt x="2345" y="1738"/>
                  </a:lnTo>
                  <a:cubicBezTo>
                    <a:pt x="2362" y="1738"/>
                    <a:pt x="2370" y="1721"/>
                    <a:pt x="2370" y="1712"/>
                  </a:cubicBezTo>
                  <a:lnTo>
                    <a:pt x="2370" y="178"/>
                  </a:lnTo>
                  <a:cubicBezTo>
                    <a:pt x="2370" y="169"/>
                    <a:pt x="2362" y="152"/>
                    <a:pt x="2345" y="15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0F9BC9F-E113-E0D0-D4BC-8322D4ED0F31}"/>
              </a:ext>
            </a:extLst>
          </p:cNvPr>
          <p:cNvSpPr txBox="1">
            <a:spLocks/>
          </p:cNvSpPr>
          <p:nvPr/>
        </p:nvSpPr>
        <p:spPr>
          <a:xfrm>
            <a:off x="4873934" y="2429444"/>
            <a:ext cx="4024448" cy="428578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sp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>
                <a:solidFill>
                  <a:srgbClr val="2B2118"/>
                </a:solidFill>
                <a:latin typeface="Arial" panose="020B0604020202020204"/>
                <a:cs typeface="Mona Sans Medium" pitchFamily="2" charset="77"/>
              </a:rPr>
              <a:t>Provide only relevant context</a:t>
            </a:r>
            <a:endParaRPr lang="en-US" sz="2400">
              <a:solidFill>
                <a:srgbClr val="B0BAC3"/>
              </a:solidFill>
              <a:latin typeface="Arial" panose="020B0604020202020204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03 · SOURCE SLIDE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96873A97-5379-A197-2CBD-B3A62D1C2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B9444D-B268-AD1B-ED58-B96B48B3AD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01832" y="298662"/>
            <a:ext cx="4119442" cy="274320"/>
          </a:xfrm>
        </p:spPr>
        <p:txBody>
          <a:bodyPr/>
          <a:lstStyle/>
          <a:p>
            <a:r>
              <a:rPr lang="en-US" sz="1200">
                <a:latin typeface="Mona Sans Mono"/>
                <a:cs typeface="Arial"/>
              </a:rPr>
              <a:t>Divide and conquer your work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9874AB6-97C4-59F0-CB74-B86DB73E10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722" y="4946458"/>
            <a:ext cx="8623524" cy="92333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FAF99F4-BFCB-E374-1903-E0D67ADE2D2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02943" y="597154"/>
            <a:ext cx="6538041" cy="422443"/>
          </a:xfrm>
        </p:spPr>
        <p:txBody>
          <a:bodyPr/>
          <a:lstStyle/>
          <a:p>
            <a:r>
              <a:rPr lang="en-US"/>
              <a:t>Research </a:t>
            </a:r>
            <a:r>
              <a:rPr lang="en-US">
                <a:sym typeface="Wingdings" pitchFamily="2" charset="2"/>
              </a:rPr>
              <a:t> Plan  Implement</a:t>
            </a:r>
            <a:endParaRPr lang="en-US"/>
          </a:p>
        </p:txBody>
      </p:sp>
      <p:sp>
        <p:nvSpPr>
          <p:cNvPr id="3" name="Abgerundetes Rechteck 5">
            <a:extLst>
              <a:ext uri="{FF2B5EF4-FFF2-40B4-BE49-F238E27FC236}">
                <a16:creationId xmlns:a16="http://schemas.microsoft.com/office/drawing/2014/main" id="{B173AE65-5A45-E322-926B-16E7B22231DB}"/>
              </a:ext>
            </a:extLst>
          </p:cNvPr>
          <p:cNvSpPr/>
          <p:nvPr/>
        </p:nvSpPr>
        <p:spPr>
          <a:xfrm>
            <a:off x="1099685" y="2842739"/>
            <a:ext cx="7741373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2426768-25FE-FA64-55B2-551E527D0042}"/>
              </a:ext>
            </a:extLst>
          </p:cNvPr>
          <p:cNvSpPr/>
          <p:nvPr/>
        </p:nvSpPr>
        <p:spPr>
          <a:xfrm>
            <a:off x="1099685" y="3949122"/>
            <a:ext cx="7741373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Abgerundetes Rechteck 6">
            <a:extLst>
              <a:ext uri="{FF2B5EF4-FFF2-40B4-BE49-F238E27FC236}">
                <a16:creationId xmlns:a16="http://schemas.microsoft.com/office/drawing/2014/main" id="{81729A2D-A3C7-37A2-3F3B-03A8406EAB52}"/>
              </a:ext>
            </a:extLst>
          </p:cNvPr>
          <p:cNvSpPr/>
          <p:nvPr/>
        </p:nvSpPr>
        <p:spPr>
          <a:xfrm>
            <a:off x="1099684" y="2842739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14" name="Abgerundetes Rechteck 7">
            <a:extLst>
              <a:ext uri="{FF2B5EF4-FFF2-40B4-BE49-F238E27FC236}">
                <a16:creationId xmlns:a16="http://schemas.microsoft.com/office/drawing/2014/main" id="{3DE7975A-0558-9B57-37EC-99C0C85FFC1E}"/>
              </a:ext>
            </a:extLst>
          </p:cNvPr>
          <p:cNvSpPr/>
          <p:nvPr/>
        </p:nvSpPr>
        <p:spPr>
          <a:xfrm>
            <a:off x="1569077" y="2842738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5" name="Abgerundetes Rechteck 13">
            <a:extLst>
              <a:ext uri="{FF2B5EF4-FFF2-40B4-BE49-F238E27FC236}">
                <a16:creationId xmlns:a16="http://schemas.microsoft.com/office/drawing/2014/main" id="{DD184BBD-35EE-279F-BD1F-7F090DA7B067}"/>
              </a:ext>
            </a:extLst>
          </p:cNvPr>
          <p:cNvSpPr/>
          <p:nvPr/>
        </p:nvSpPr>
        <p:spPr>
          <a:xfrm>
            <a:off x="3703297" y="2845485"/>
            <a:ext cx="952838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REASONING</a:t>
            </a:r>
          </a:p>
        </p:txBody>
      </p:sp>
      <p:sp>
        <p:nvSpPr>
          <p:cNvPr id="16" name="Abgerundetes Rechteck 43">
            <a:extLst>
              <a:ext uri="{FF2B5EF4-FFF2-40B4-BE49-F238E27FC236}">
                <a16:creationId xmlns:a16="http://schemas.microsoft.com/office/drawing/2014/main" id="{379F1303-A4DE-49CC-5EDA-91CD4C15C186}"/>
              </a:ext>
            </a:extLst>
          </p:cNvPr>
          <p:cNvSpPr/>
          <p:nvPr/>
        </p:nvSpPr>
        <p:spPr>
          <a:xfrm>
            <a:off x="2840690" y="2844292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30" name="Abgerundetes Rechteck 13">
            <a:extLst>
              <a:ext uri="{FF2B5EF4-FFF2-40B4-BE49-F238E27FC236}">
                <a16:creationId xmlns:a16="http://schemas.microsoft.com/office/drawing/2014/main" id="{6E566653-042E-978D-352B-15AEB8BD7B9C}"/>
              </a:ext>
            </a:extLst>
          </p:cNvPr>
          <p:cNvSpPr/>
          <p:nvPr/>
        </p:nvSpPr>
        <p:spPr>
          <a:xfrm>
            <a:off x="3454354" y="3951868"/>
            <a:ext cx="1353506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CHANGE CALLS</a:t>
            </a:r>
          </a:p>
        </p:txBody>
      </p:sp>
      <p:sp>
        <p:nvSpPr>
          <p:cNvPr id="32" name="Abgerundetes Rechteck 5">
            <a:extLst>
              <a:ext uri="{FF2B5EF4-FFF2-40B4-BE49-F238E27FC236}">
                <a16:creationId xmlns:a16="http://schemas.microsoft.com/office/drawing/2014/main" id="{43116E45-3406-74D0-2E73-B911516B3A20}"/>
              </a:ext>
            </a:extLst>
          </p:cNvPr>
          <p:cNvSpPr/>
          <p:nvPr/>
        </p:nvSpPr>
        <p:spPr>
          <a:xfrm>
            <a:off x="1099685" y="1746754"/>
            <a:ext cx="7741373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64ED26FF-5E5B-9142-9C9B-BF44149C8CD4}"/>
              </a:ext>
            </a:extLst>
          </p:cNvPr>
          <p:cNvSpPr txBox="1">
            <a:spLocks/>
          </p:cNvSpPr>
          <p:nvPr/>
        </p:nvSpPr>
        <p:spPr>
          <a:xfrm>
            <a:off x="302943" y="1854971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00">
                <a:solidFill>
                  <a:srgbClr val="FFFFFF"/>
                </a:solidFill>
              </a:rPr>
              <a:t>/research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600">
                <a:solidFill>
                  <a:srgbClr val="B0BAC3"/>
                </a:solidFill>
              </a:rPr>
              <a:t>Gemini 2.5 pro</a:t>
            </a:r>
          </a:p>
        </p:txBody>
      </p:sp>
      <p:sp>
        <p:nvSpPr>
          <p:cNvPr id="34" name="Abgerundetes Rechteck 6">
            <a:extLst>
              <a:ext uri="{FF2B5EF4-FFF2-40B4-BE49-F238E27FC236}">
                <a16:creationId xmlns:a16="http://schemas.microsoft.com/office/drawing/2014/main" id="{F10562A3-BEA8-D79A-5655-5609C537DE7F}"/>
              </a:ext>
            </a:extLst>
          </p:cNvPr>
          <p:cNvSpPr/>
          <p:nvPr/>
        </p:nvSpPr>
        <p:spPr>
          <a:xfrm>
            <a:off x="1099684" y="1746754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35" name="Abgerundetes Rechteck 7">
            <a:extLst>
              <a:ext uri="{FF2B5EF4-FFF2-40B4-BE49-F238E27FC236}">
                <a16:creationId xmlns:a16="http://schemas.microsoft.com/office/drawing/2014/main" id="{5F1FAD07-3564-C0F9-CCAD-675E534571D5}"/>
              </a:ext>
            </a:extLst>
          </p:cNvPr>
          <p:cNvSpPr/>
          <p:nvPr/>
        </p:nvSpPr>
        <p:spPr>
          <a:xfrm>
            <a:off x="1569077" y="1746754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36" name="Abgerundetes Rechteck 13">
            <a:extLst>
              <a:ext uri="{FF2B5EF4-FFF2-40B4-BE49-F238E27FC236}">
                <a16:creationId xmlns:a16="http://schemas.microsoft.com/office/drawing/2014/main" id="{32674959-A450-806A-80EA-1CE2258AF29E}"/>
              </a:ext>
            </a:extLst>
          </p:cNvPr>
          <p:cNvSpPr/>
          <p:nvPr/>
        </p:nvSpPr>
        <p:spPr>
          <a:xfrm>
            <a:off x="4531846" y="1749500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PLAN INPUT</a:t>
            </a:r>
          </a:p>
        </p:txBody>
      </p:sp>
      <p:sp>
        <p:nvSpPr>
          <p:cNvPr id="37" name="Abgerundetes Rechteck 43">
            <a:extLst>
              <a:ext uri="{FF2B5EF4-FFF2-40B4-BE49-F238E27FC236}">
                <a16:creationId xmlns:a16="http://schemas.microsoft.com/office/drawing/2014/main" id="{9C114EE7-5BE5-B8E3-EDE9-140E87177119}"/>
              </a:ext>
            </a:extLst>
          </p:cNvPr>
          <p:cNvSpPr/>
          <p:nvPr/>
        </p:nvSpPr>
        <p:spPr>
          <a:xfrm>
            <a:off x="2092096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AC298849-C12A-C449-1699-4E010650074F}"/>
              </a:ext>
            </a:extLst>
          </p:cNvPr>
          <p:cNvSpPr txBox="1">
            <a:spLocks/>
          </p:cNvSpPr>
          <p:nvPr/>
        </p:nvSpPr>
        <p:spPr>
          <a:xfrm>
            <a:off x="302943" y="2957024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00">
                <a:solidFill>
                  <a:srgbClr val="FFFFFF"/>
                </a:solidFill>
              </a:rPr>
              <a:t>/plan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600">
                <a:solidFill>
                  <a:srgbClr val="B0BAC3"/>
                </a:solidFill>
              </a:rPr>
              <a:t>Opus 4.7</a:t>
            </a:r>
          </a:p>
        </p:txBody>
      </p:sp>
      <p:sp>
        <p:nvSpPr>
          <p:cNvPr id="39" name="Text Placeholder 1">
            <a:extLst>
              <a:ext uri="{FF2B5EF4-FFF2-40B4-BE49-F238E27FC236}">
                <a16:creationId xmlns:a16="http://schemas.microsoft.com/office/drawing/2014/main" id="{071F8058-E437-C467-8790-91C361190CFA}"/>
              </a:ext>
            </a:extLst>
          </p:cNvPr>
          <p:cNvSpPr txBox="1">
            <a:spLocks/>
          </p:cNvSpPr>
          <p:nvPr/>
        </p:nvSpPr>
        <p:spPr>
          <a:xfrm>
            <a:off x="302943" y="4064098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00">
                <a:solidFill>
                  <a:srgbClr val="FFFFFF"/>
                </a:solidFill>
              </a:rPr>
              <a:t>/fleet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600" err="1">
                <a:solidFill>
                  <a:srgbClr val="B0BAC3"/>
                </a:solidFill>
              </a:rPr>
              <a:t>Gpt</a:t>
            </a:r>
            <a:r>
              <a:rPr lang="en-US" sz="600">
                <a:solidFill>
                  <a:srgbClr val="B0BAC3"/>
                </a:solidFill>
              </a:rPr>
              <a:t> 5.4</a:t>
            </a:r>
          </a:p>
        </p:txBody>
      </p:sp>
      <p:sp>
        <p:nvSpPr>
          <p:cNvPr id="40" name="Abgerundetes Rechteck 43">
            <a:extLst>
              <a:ext uri="{FF2B5EF4-FFF2-40B4-BE49-F238E27FC236}">
                <a16:creationId xmlns:a16="http://schemas.microsoft.com/office/drawing/2014/main" id="{DEAAB6B5-10A6-E410-1BA5-BF9E05E1552B}"/>
              </a:ext>
            </a:extLst>
          </p:cNvPr>
          <p:cNvSpPr/>
          <p:nvPr/>
        </p:nvSpPr>
        <p:spPr>
          <a:xfrm>
            <a:off x="2498721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3" name="Abgerundetes Rechteck 43">
            <a:extLst>
              <a:ext uri="{FF2B5EF4-FFF2-40B4-BE49-F238E27FC236}">
                <a16:creationId xmlns:a16="http://schemas.microsoft.com/office/drawing/2014/main" id="{9DC40D41-7F5B-0A6B-11E6-DB060225CCAE}"/>
              </a:ext>
            </a:extLst>
          </p:cNvPr>
          <p:cNvSpPr/>
          <p:nvPr/>
        </p:nvSpPr>
        <p:spPr>
          <a:xfrm>
            <a:off x="3311971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4" name="Abgerundetes Rechteck 43">
            <a:extLst>
              <a:ext uri="{FF2B5EF4-FFF2-40B4-BE49-F238E27FC236}">
                <a16:creationId xmlns:a16="http://schemas.microsoft.com/office/drawing/2014/main" id="{039DCE65-DCBA-8BCB-60F8-DC3904F1CBB2}"/>
              </a:ext>
            </a:extLst>
          </p:cNvPr>
          <p:cNvSpPr/>
          <p:nvPr/>
        </p:nvSpPr>
        <p:spPr>
          <a:xfrm>
            <a:off x="3718596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1" name="Abgerundetes Rechteck 43">
            <a:extLst>
              <a:ext uri="{FF2B5EF4-FFF2-40B4-BE49-F238E27FC236}">
                <a16:creationId xmlns:a16="http://schemas.microsoft.com/office/drawing/2014/main" id="{ACB10AAF-C246-DCCC-9C2B-342E6CC60F8F}"/>
              </a:ext>
            </a:extLst>
          </p:cNvPr>
          <p:cNvSpPr/>
          <p:nvPr/>
        </p:nvSpPr>
        <p:spPr>
          <a:xfrm>
            <a:off x="2905346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5" name="Abgerundetes Rechteck 43">
            <a:extLst>
              <a:ext uri="{FF2B5EF4-FFF2-40B4-BE49-F238E27FC236}">
                <a16:creationId xmlns:a16="http://schemas.microsoft.com/office/drawing/2014/main" id="{7B1AD873-2558-81ED-8C17-90ADA217BD2F}"/>
              </a:ext>
            </a:extLst>
          </p:cNvPr>
          <p:cNvSpPr/>
          <p:nvPr/>
        </p:nvSpPr>
        <p:spPr>
          <a:xfrm>
            <a:off x="4125220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grpSp>
        <p:nvGrpSpPr>
          <p:cNvPr id="46" name="Google Shape;1285;p65">
            <a:extLst>
              <a:ext uri="{FF2B5EF4-FFF2-40B4-BE49-F238E27FC236}">
                <a16:creationId xmlns:a16="http://schemas.microsoft.com/office/drawing/2014/main" id="{F3BD173C-9699-2969-C106-A77EB3A49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228410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47" name="Google Shape;1286;p65">
              <a:extLst>
                <a:ext uri="{FF2B5EF4-FFF2-40B4-BE49-F238E27FC236}">
                  <a16:creationId xmlns:a16="http://schemas.microsoft.com/office/drawing/2014/main" id="{3EDC46A4-A709-7E1B-A136-4E38B43B43D6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48" name="Google Shape;1287;p65">
              <a:extLst>
                <a:ext uri="{FF2B5EF4-FFF2-40B4-BE49-F238E27FC236}">
                  <a16:creationId xmlns:a16="http://schemas.microsoft.com/office/drawing/2014/main" id="{CEC9A193-67FF-A6C8-7ED0-91AF640699DE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49" name="Google Shape;1285;p65">
            <a:extLst>
              <a:ext uri="{FF2B5EF4-FFF2-40B4-BE49-F238E27FC236}">
                <a16:creationId xmlns:a16="http://schemas.microsoft.com/office/drawing/2014/main" id="{5E391F41-5DC7-C673-050B-9FCACC46D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635035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50" name="Google Shape;1286;p65">
              <a:extLst>
                <a:ext uri="{FF2B5EF4-FFF2-40B4-BE49-F238E27FC236}">
                  <a16:creationId xmlns:a16="http://schemas.microsoft.com/office/drawing/2014/main" id="{367AE640-5F16-9BCD-253F-9B95322CD6A0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51" name="Google Shape;1287;p65">
              <a:extLst>
                <a:ext uri="{FF2B5EF4-FFF2-40B4-BE49-F238E27FC236}">
                  <a16:creationId xmlns:a16="http://schemas.microsoft.com/office/drawing/2014/main" id="{11917BE5-CEA7-ED82-2614-08FF0E8FEBC9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52" name="Google Shape;1285;p65">
            <a:extLst>
              <a:ext uri="{FF2B5EF4-FFF2-40B4-BE49-F238E27FC236}">
                <a16:creationId xmlns:a16="http://schemas.microsoft.com/office/drawing/2014/main" id="{D80A36DD-3C1C-8E30-09E3-4223FE7B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448285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53" name="Google Shape;1286;p65">
              <a:extLst>
                <a:ext uri="{FF2B5EF4-FFF2-40B4-BE49-F238E27FC236}">
                  <a16:creationId xmlns:a16="http://schemas.microsoft.com/office/drawing/2014/main" id="{C2C71FE4-7605-15DD-DA8A-7BA98AA96A2E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54" name="Google Shape;1287;p65">
              <a:extLst>
                <a:ext uri="{FF2B5EF4-FFF2-40B4-BE49-F238E27FC236}">
                  <a16:creationId xmlns:a16="http://schemas.microsoft.com/office/drawing/2014/main" id="{6E4938BD-CBA7-9EF8-9841-23AE978D9AA2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55" name="Google Shape;1285;p65">
            <a:extLst>
              <a:ext uri="{FF2B5EF4-FFF2-40B4-BE49-F238E27FC236}">
                <a16:creationId xmlns:a16="http://schemas.microsoft.com/office/drawing/2014/main" id="{4F4918A6-C5B5-5013-0F39-0A8E2C0A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854909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56" name="Google Shape;1286;p65">
              <a:extLst>
                <a:ext uri="{FF2B5EF4-FFF2-40B4-BE49-F238E27FC236}">
                  <a16:creationId xmlns:a16="http://schemas.microsoft.com/office/drawing/2014/main" id="{FC19F304-27CA-2130-B00F-E8E5842C0FBB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57" name="Google Shape;1287;p65">
              <a:extLst>
                <a:ext uri="{FF2B5EF4-FFF2-40B4-BE49-F238E27FC236}">
                  <a16:creationId xmlns:a16="http://schemas.microsoft.com/office/drawing/2014/main" id="{D9D2012F-D382-B708-6E79-AAE4A8F2699B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58" name="Google Shape;1276;p65">
            <a:extLst>
              <a:ext uri="{FF2B5EF4-FFF2-40B4-BE49-F238E27FC236}">
                <a16:creationId xmlns:a16="http://schemas.microsoft.com/office/drawing/2014/main" id="{1002CD01-F8F4-7A9B-AFA5-1B2B3D42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035066" y="1783483"/>
            <a:ext cx="147184" cy="147184"/>
            <a:chOff x="3020588" y="3576206"/>
            <a:chExt cx="43500" cy="43500"/>
          </a:xfrm>
          <a:solidFill>
            <a:srgbClr val="0D6836"/>
          </a:solidFill>
        </p:grpSpPr>
        <p:sp>
          <p:nvSpPr>
            <p:cNvPr id="59" name="Google Shape;1277;p65">
              <a:extLst>
                <a:ext uri="{FF2B5EF4-FFF2-40B4-BE49-F238E27FC236}">
                  <a16:creationId xmlns:a16="http://schemas.microsoft.com/office/drawing/2014/main" id="{FBB543FF-2F57-EFD7-2687-D8B4357D2E4D}"/>
                </a:ext>
              </a:extLst>
            </p:cNvPr>
            <p:cNvSpPr/>
            <p:nvPr/>
          </p:nvSpPr>
          <p:spPr>
            <a:xfrm>
              <a:off x="3031331" y="3589969"/>
              <a:ext cx="22012" cy="15825"/>
            </a:xfrm>
            <a:custGeom>
              <a:avLst/>
              <a:gdLst/>
              <a:ahLst/>
              <a:cxnLst/>
              <a:rect l="l" t="t" r="r" b="b"/>
              <a:pathLst>
                <a:path w="1174" h="844" extrusionOk="0">
                  <a:moveTo>
                    <a:pt x="1089" y="1"/>
                  </a:moveTo>
                  <a:cubicBezTo>
                    <a:pt x="1068" y="1"/>
                    <a:pt x="1047" y="9"/>
                    <a:pt x="1030" y="26"/>
                  </a:cubicBezTo>
                  <a:lnTo>
                    <a:pt x="406" y="650"/>
                  </a:lnTo>
                  <a:lnTo>
                    <a:pt x="144" y="397"/>
                  </a:lnTo>
                  <a:cubicBezTo>
                    <a:pt x="127" y="380"/>
                    <a:pt x="106" y="372"/>
                    <a:pt x="86" y="372"/>
                  </a:cubicBezTo>
                  <a:cubicBezTo>
                    <a:pt x="66" y="372"/>
                    <a:pt x="47" y="380"/>
                    <a:pt x="35" y="397"/>
                  </a:cubicBezTo>
                  <a:cubicBezTo>
                    <a:pt x="1" y="422"/>
                    <a:pt x="1" y="473"/>
                    <a:pt x="35" y="507"/>
                  </a:cubicBezTo>
                  <a:lnTo>
                    <a:pt x="347" y="819"/>
                  </a:lnTo>
                  <a:cubicBezTo>
                    <a:pt x="364" y="835"/>
                    <a:pt x="385" y="844"/>
                    <a:pt x="405" y="844"/>
                  </a:cubicBezTo>
                  <a:cubicBezTo>
                    <a:pt x="425" y="844"/>
                    <a:pt x="444" y="835"/>
                    <a:pt x="456" y="819"/>
                  </a:cubicBezTo>
                  <a:lnTo>
                    <a:pt x="1148" y="136"/>
                  </a:lnTo>
                  <a:cubicBezTo>
                    <a:pt x="1173" y="102"/>
                    <a:pt x="1173" y="51"/>
                    <a:pt x="1148" y="26"/>
                  </a:cubicBezTo>
                  <a:cubicBezTo>
                    <a:pt x="1131" y="9"/>
                    <a:pt x="1110" y="1"/>
                    <a:pt x="108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60" name="Google Shape;1278;p65">
              <a:extLst>
                <a:ext uri="{FF2B5EF4-FFF2-40B4-BE49-F238E27FC236}">
                  <a16:creationId xmlns:a16="http://schemas.microsoft.com/office/drawing/2014/main" id="{81520C52-ECC2-0B21-3135-B7B5DD3C5161}"/>
                </a:ext>
              </a:extLst>
            </p:cNvPr>
            <p:cNvSpPr/>
            <p:nvPr/>
          </p:nvSpPr>
          <p:spPr>
            <a:xfrm>
              <a:off x="3020588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1" y="515"/>
                    <a:pt x="1" y="1156"/>
                  </a:cubicBezTo>
                  <a:cubicBezTo>
                    <a:pt x="1" y="1797"/>
                    <a:pt x="523" y="2320"/>
                    <a:pt x="1164" y="2320"/>
                  </a:cubicBezTo>
                  <a:cubicBezTo>
                    <a:pt x="1797" y="2320"/>
                    <a:pt x="2320" y="1797"/>
                    <a:pt x="2320" y="1156"/>
                  </a:cubicBezTo>
                  <a:cubicBezTo>
                    <a:pt x="2320" y="515"/>
                    <a:pt x="1797" y="1"/>
                    <a:pt x="1164" y="1"/>
                  </a:cubicBezTo>
                  <a:close/>
                  <a:moveTo>
                    <a:pt x="161" y="1156"/>
                  </a:moveTo>
                  <a:cubicBezTo>
                    <a:pt x="161" y="600"/>
                    <a:pt x="608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8" y="2160"/>
                    <a:pt x="161" y="1713"/>
                    <a:pt x="161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62" name="Google Shape;1276;p65">
            <a:extLst>
              <a:ext uri="{FF2B5EF4-FFF2-40B4-BE49-F238E27FC236}">
                <a16:creationId xmlns:a16="http://schemas.microsoft.com/office/drawing/2014/main" id="{8D32B095-90D8-EAD0-17F6-56B5CE3C5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61010" y="1783483"/>
            <a:ext cx="147184" cy="147184"/>
            <a:chOff x="3020588" y="3576206"/>
            <a:chExt cx="43500" cy="43500"/>
          </a:xfrm>
          <a:solidFill>
            <a:srgbClr val="0D6836"/>
          </a:solidFill>
        </p:grpSpPr>
        <p:sp>
          <p:nvSpPr>
            <p:cNvPr id="63" name="Google Shape;1277;p65">
              <a:extLst>
                <a:ext uri="{FF2B5EF4-FFF2-40B4-BE49-F238E27FC236}">
                  <a16:creationId xmlns:a16="http://schemas.microsoft.com/office/drawing/2014/main" id="{2283D344-6797-0CDA-EC24-614254274B9C}"/>
                </a:ext>
              </a:extLst>
            </p:cNvPr>
            <p:cNvSpPr/>
            <p:nvPr/>
          </p:nvSpPr>
          <p:spPr>
            <a:xfrm>
              <a:off x="3031331" y="3589969"/>
              <a:ext cx="22012" cy="15825"/>
            </a:xfrm>
            <a:custGeom>
              <a:avLst/>
              <a:gdLst/>
              <a:ahLst/>
              <a:cxnLst/>
              <a:rect l="l" t="t" r="r" b="b"/>
              <a:pathLst>
                <a:path w="1174" h="844" extrusionOk="0">
                  <a:moveTo>
                    <a:pt x="1089" y="1"/>
                  </a:moveTo>
                  <a:cubicBezTo>
                    <a:pt x="1068" y="1"/>
                    <a:pt x="1047" y="9"/>
                    <a:pt x="1030" y="26"/>
                  </a:cubicBezTo>
                  <a:lnTo>
                    <a:pt x="406" y="650"/>
                  </a:lnTo>
                  <a:lnTo>
                    <a:pt x="144" y="397"/>
                  </a:lnTo>
                  <a:cubicBezTo>
                    <a:pt x="127" y="380"/>
                    <a:pt x="106" y="372"/>
                    <a:pt x="86" y="372"/>
                  </a:cubicBezTo>
                  <a:cubicBezTo>
                    <a:pt x="66" y="372"/>
                    <a:pt x="47" y="380"/>
                    <a:pt x="35" y="397"/>
                  </a:cubicBezTo>
                  <a:cubicBezTo>
                    <a:pt x="1" y="422"/>
                    <a:pt x="1" y="473"/>
                    <a:pt x="35" y="507"/>
                  </a:cubicBezTo>
                  <a:lnTo>
                    <a:pt x="347" y="819"/>
                  </a:lnTo>
                  <a:cubicBezTo>
                    <a:pt x="364" y="835"/>
                    <a:pt x="385" y="844"/>
                    <a:pt x="405" y="844"/>
                  </a:cubicBezTo>
                  <a:cubicBezTo>
                    <a:pt x="425" y="844"/>
                    <a:pt x="444" y="835"/>
                    <a:pt x="456" y="819"/>
                  </a:cubicBezTo>
                  <a:lnTo>
                    <a:pt x="1148" y="136"/>
                  </a:lnTo>
                  <a:cubicBezTo>
                    <a:pt x="1173" y="102"/>
                    <a:pt x="1173" y="51"/>
                    <a:pt x="1148" y="26"/>
                  </a:cubicBezTo>
                  <a:cubicBezTo>
                    <a:pt x="1131" y="9"/>
                    <a:pt x="1110" y="1"/>
                    <a:pt x="108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64" name="Google Shape;1278;p65">
              <a:extLst>
                <a:ext uri="{FF2B5EF4-FFF2-40B4-BE49-F238E27FC236}">
                  <a16:creationId xmlns:a16="http://schemas.microsoft.com/office/drawing/2014/main" id="{776E230C-FF84-C285-9351-F7D9C10F730D}"/>
                </a:ext>
              </a:extLst>
            </p:cNvPr>
            <p:cNvSpPr/>
            <p:nvPr/>
          </p:nvSpPr>
          <p:spPr>
            <a:xfrm>
              <a:off x="3020588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1" y="515"/>
                    <a:pt x="1" y="1156"/>
                  </a:cubicBezTo>
                  <a:cubicBezTo>
                    <a:pt x="1" y="1797"/>
                    <a:pt x="523" y="2320"/>
                    <a:pt x="1164" y="2320"/>
                  </a:cubicBezTo>
                  <a:cubicBezTo>
                    <a:pt x="1797" y="2320"/>
                    <a:pt x="2320" y="1797"/>
                    <a:pt x="2320" y="1156"/>
                  </a:cubicBezTo>
                  <a:cubicBezTo>
                    <a:pt x="2320" y="515"/>
                    <a:pt x="1797" y="1"/>
                    <a:pt x="1164" y="1"/>
                  </a:cubicBezTo>
                  <a:close/>
                  <a:moveTo>
                    <a:pt x="161" y="1156"/>
                  </a:moveTo>
                  <a:cubicBezTo>
                    <a:pt x="161" y="600"/>
                    <a:pt x="608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8" y="2160"/>
                    <a:pt x="161" y="1713"/>
                    <a:pt x="161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65" name="Abgerundetes Rechteck 13">
            <a:extLst>
              <a:ext uri="{FF2B5EF4-FFF2-40B4-BE49-F238E27FC236}">
                <a16:creationId xmlns:a16="http://schemas.microsoft.com/office/drawing/2014/main" id="{FE1389AA-13C6-22FB-8691-E484645BC452}"/>
              </a:ext>
            </a:extLst>
          </p:cNvPr>
          <p:cNvSpPr/>
          <p:nvPr/>
        </p:nvSpPr>
        <p:spPr>
          <a:xfrm>
            <a:off x="2089361" y="2845485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PLAN INPUT</a:t>
            </a:r>
          </a:p>
        </p:txBody>
      </p:sp>
      <p:sp>
        <p:nvSpPr>
          <p:cNvPr id="66" name="Abgerundetes Rechteck 43">
            <a:extLst>
              <a:ext uri="{FF2B5EF4-FFF2-40B4-BE49-F238E27FC236}">
                <a16:creationId xmlns:a16="http://schemas.microsoft.com/office/drawing/2014/main" id="{CB8E2E15-4479-16C9-8811-8F0CB14179F3}"/>
              </a:ext>
            </a:extLst>
          </p:cNvPr>
          <p:cNvSpPr/>
          <p:nvPr/>
        </p:nvSpPr>
        <p:spPr>
          <a:xfrm>
            <a:off x="3271591" y="2844292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67" name="Abgerundetes Rechteck 13">
            <a:extLst>
              <a:ext uri="{FF2B5EF4-FFF2-40B4-BE49-F238E27FC236}">
                <a16:creationId xmlns:a16="http://schemas.microsoft.com/office/drawing/2014/main" id="{519FF6EC-B7D7-6F18-5B8D-62FE65B2F74E}"/>
              </a:ext>
            </a:extLst>
          </p:cNvPr>
          <p:cNvSpPr/>
          <p:nvPr/>
        </p:nvSpPr>
        <p:spPr>
          <a:xfrm>
            <a:off x="4658679" y="2845485"/>
            <a:ext cx="509799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PRECISE SPEC</a:t>
            </a:r>
          </a:p>
        </p:txBody>
      </p:sp>
      <p:sp>
        <p:nvSpPr>
          <p:cNvPr id="68" name="Abgerundetes Rechteck 6">
            <a:extLst>
              <a:ext uri="{FF2B5EF4-FFF2-40B4-BE49-F238E27FC236}">
                <a16:creationId xmlns:a16="http://schemas.microsoft.com/office/drawing/2014/main" id="{36EC9092-39CA-D9C6-F292-E1954ABC6F93}"/>
              </a:ext>
            </a:extLst>
          </p:cNvPr>
          <p:cNvSpPr/>
          <p:nvPr/>
        </p:nvSpPr>
        <p:spPr>
          <a:xfrm>
            <a:off x="1099684" y="3955882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69" name="Abgerundetes Rechteck 7">
            <a:extLst>
              <a:ext uri="{FF2B5EF4-FFF2-40B4-BE49-F238E27FC236}">
                <a16:creationId xmlns:a16="http://schemas.microsoft.com/office/drawing/2014/main" id="{97898192-7620-2F2A-6EE7-A57F94555660}"/>
              </a:ext>
            </a:extLst>
          </p:cNvPr>
          <p:cNvSpPr/>
          <p:nvPr/>
        </p:nvSpPr>
        <p:spPr>
          <a:xfrm>
            <a:off x="1569077" y="3955881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70" name="Abgerundetes Rechteck 13">
            <a:extLst>
              <a:ext uri="{FF2B5EF4-FFF2-40B4-BE49-F238E27FC236}">
                <a16:creationId xmlns:a16="http://schemas.microsoft.com/office/drawing/2014/main" id="{8DCF2CA9-5A85-ED1A-63E1-D5DD6A9961F4}"/>
              </a:ext>
            </a:extLst>
          </p:cNvPr>
          <p:cNvSpPr/>
          <p:nvPr/>
        </p:nvSpPr>
        <p:spPr>
          <a:xfrm>
            <a:off x="2089360" y="3958627"/>
            <a:ext cx="509799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PRECISE SPEC</a:t>
            </a:r>
          </a:p>
        </p:txBody>
      </p:sp>
      <p:sp>
        <p:nvSpPr>
          <p:cNvPr id="71" name="Abgerundetes Rechteck 43">
            <a:extLst>
              <a:ext uri="{FF2B5EF4-FFF2-40B4-BE49-F238E27FC236}">
                <a16:creationId xmlns:a16="http://schemas.microsoft.com/office/drawing/2014/main" id="{AD9CAFF7-9913-34DE-EA95-0A1BC2B7544D}"/>
              </a:ext>
            </a:extLst>
          </p:cNvPr>
          <p:cNvSpPr/>
          <p:nvPr/>
        </p:nvSpPr>
        <p:spPr>
          <a:xfrm>
            <a:off x="2597703" y="3945296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72" name="Abgerundetes Rechteck 43">
            <a:extLst>
              <a:ext uri="{FF2B5EF4-FFF2-40B4-BE49-F238E27FC236}">
                <a16:creationId xmlns:a16="http://schemas.microsoft.com/office/drawing/2014/main" id="{79258F15-D97A-28C5-DD86-7E2380AFDB6F}"/>
              </a:ext>
            </a:extLst>
          </p:cNvPr>
          <p:cNvSpPr/>
          <p:nvPr/>
        </p:nvSpPr>
        <p:spPr>
          <a:xfrm>
            <a:off x="3028604" y="3945296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2A18D397-BBA6-B6F6-5E9D-BCFFCEDB8884}"/>
              </a:ext>
            </a:extLst>
          </p:cNvPr>
          <p:cNvCxnSpPr>
            <a:stCxn id="36" idx="2"/>
            <a:endCxn id="65" idx="0"/>
          </p:cNvCxnSpPr>
          <p:nvPr/>
        </p:nvCxnSpPr>
        <p:spPr>
          <a:xfrm rot="5400000">
            <a:off x="3383654" y="1321628"/>
            <a:ext cx="605229" cy="2442484"/>
          </a:xfrm>
          <a:prstGeom prst="bentConnector3">
            <a:avLst/>
          </a:prstGeom>
          <a:ln>
            <a:solidFill>
              <a:srgbClr val="00B0F0"/>
            </a:solidFill>
            <a:tailEnd type="oval" w="lg" len="lg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5E1260E9-13BD-AF73-2433-688889F744BF}"/>
              </a:ext>
            </a:extLst>
          </p:cNvPr>
          <p:cNvCxnSpPr>
            <a:stCxn id="67" idx="2"/>
            <a:endCxn id="70" idx="0"/>
          </p:cNvCxnSpPr>
          <p:nvPr/>
        </p:nvCxnSpPr>
        <p:spPr>
          <a:xfrm rot="5400000">
            <a:off x="3317726" y="2362774"/>
            <a:ext cx="622386" cy="2569318"/>
          </a:xfrm>
          <a:prstGeom prst="bentConnector3">
            <a:avLst/>
          </a:prstGeom>
          <a:ln>
            <a:solidFill>
              <a:srgbClr val="00B0F0"/>
            </a:solidFill>
            <a:tailEnd type="oval" w="lg" len="lg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9D77F74-4200-A2CD-034F-5D408B272F65}"/>
              </a:ext>
            </a:extLst>
          </p:cNvPr>
          <p:cNvCxnSpPr>
            <a:cxnSpLocks/>
            <a:stCxn id="35" idx="0"/>
            <a:endCxn id="88" idx="2"/>
          </p:cNvCxnSpPr>
          <p:nvPr/>
        </p:nvCxnSpPr>
        <p:spPr>
          <a:xfrm flipH="1" flipV="1">
            <a:off x="1830586" y="1540070"/>
            <a:ext cx="1" cy="206684"/>
          </a:xfrm>
          <a:prstGeom prst="straightConnector1">
            <a:avLst/>
          </a:prstGeom>
          <a:ln>
            <a:solidFill>
              <a:srgbClr val="704EA0"/>
            </a:solidFill>
            <a:headEnd type="oval" w="lg" len="lg"/>
            <a:tailEnd type="none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sp>
        <p:nvSpPr>
          <p:cNvPr id="88" name="Abgerundetes Rechteck 7">
            <a:extLst>
              <a:ext uri="{FF2B5EF4-FFF2-40B4-BE49-F238E27FC236}">
                <a16:creationId xmlns:a16="http://schemas.microsoft.com/office/drawing/2014/main" id="{4B216FC1-6E4C-5B3D-ED14-12001EE2F0E9}"/>
              </a:ext>
            </a:extLst>
          </p:cNvPr>
          <p:cNvSpPr/>
          <p:nvPr/>
        </p:nvSpPr>
        <p:spPr>
          <a:xfrm>
            <a:off x="1143712" y="1217168"/>
            <a:ext cx="1373749" cy="322901"/>
          </a:xfrm>
          <a:prstGeom prst="roundRect">
            <a:avLst/>
          </a:prstGeom>
          <a:solidFill>
            <a:srgbClr val="704EA0">
              <a:alpha val="15000"/>
            </a:srgbClr>
          </a:solidFill>
          <a:ln>
            <a:solidFill>
              <a:srgbClr val="704EA0"/>
            </a:solidFill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defTabSz="914080"/>
            <a:r>
              <a:rPr lang="de-DE" sz="600">
                <a:solidFill>
                  <a:srgbClr val="FFFFFF"/>
                </a:solidFill>
                <a:latin typeface="Mona Sans Mono" pitchFamily="2" charset="77"/>
                <a:cs typeface="Mona Sans Mono" pitchFamily="2" charset="77"/>
              </a:rPr>
              <a:t>“I WANT TO CHANGE X.</a:t>
            </a:r>
            <a:br>
              <a:rPr lang="de-DE" sz="600">
                <a:solidFill>
                  <a:srgbClr val="FFFFFF"/>
                </a:solidFill>
                <a:latin typeface="Mona Sans Mono" pitchFamily="2" charset="77"/>
                <a:cs typeface="Mona Sans Mono" pitchFamily="2" charset="77"/>
              </a:rPr>
            </a:br>
            <a:r>
              <a:rPr lang="de-DE" sz="600">
                <a:solidFill>
                  <a:srgbClr val="FFFFFF"/>
                </a:solidFill>
                <a:latin typeface="Mona Sans Mono" pitchFamily="2" charset="77"/>
                <a:cs typeface="Mona Sans Mono" pitchFamily="2" charset="77"/>
              </a:rPr>
              <a:t>WHAT FILES ARE RELEVANT?“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03 · SOURCE SLIDE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2E3252"/>
            </a:gs>
            <a:gs pos="2000">
              <a:srgbClr val="2E3252"/>
            </a:gs>
            <a:gs pos="100000">
              <a:srgbClr val="161828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427;p33">
            <a:extLst>
              <a:ext uri="{FF2B5EF4-FFF2-40B4-BE49-F238E27FC236}">
                <a16:creationId xmlns:a16="http://schemas.microsoft.com/office/drawing/2014/main" id="{E7BD7E0C-197E-E6CE-C6E4-185557A2C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2">
            <a:alphaModFix amt="11000"/>
          </a:blip>
          <a:srcRect r="33453" b="13524"/>
          <a:stretch/>
        </p:blipFill>
        <p:spPr>
          <a:xfrm>
            <a:off x="6075168" y="4"/>
            <a:ext cx="3068832" cy="37002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1;p20">
            <a:extLst>
              <a:ext uri="{FF2B5EF4-FFF2-40B4-BE49-F238E27FC236}">
                <a16:creationId xmlns:a16="http://schemas.microsoft.com/office/drawing/2014/main" id="{A993FFE3-F200-F901-C799-00072A690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>
          <a:xfrm>
            <a:off x="565882" y="1050425"/>
            <a:ext cx="3936595" cy="2540518"/>
          </a:xfrm>
          <a:prstGeom prst="roundRect">
            <a:avLst>
              <a:gd name="adj" fmla="val 2413"/>
            </a:avLst>
          </a:prstGeom>
          <a:gradFill>
            <a:gsLst>
              <a:gs pos="0">
                <a:srgbClr val="9477E2">
                  <a:alpha val="20000"/>
                </a:srgbClr>
              </a:gs>
              <a:gs pos="2000">
                <a:srgbClr val="9477E2">
                  <a:alpha val="20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1004285" rIns="0" bIns="0" anchor="t" anchorCtr="0">
            <a:noAutofit/>
          </a:bodyPr>
          <a:lstStyle/>
          <a:p>
            <a:pPr marL="0" marR="0" lvl="0" indent="0" algn="ctr" defTabSz="6086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6" b="1" i="0" u="none" strike="noStrike" kern="1200" cap="none" spc="0" normalizeH="0" baseline="3000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Calibri"/>
              <a:cs typeface="Calibri"/>
              <a:sym typeface="Arial"/>
            </a:endParaRPr>
          </a:p>
        </p:txBody>
      </p:sp>
      <p:sp>
        <p:nvSpPr>
          <p:cNvPr id="4" name="Google Shape;480;p34">
            <a:extLst>
              <a:ext uri="{FF2B5EF4-FFF2-40B4-BE49-F238E27FC236}">
                <a16:creationId xmlns:a16="http://schemas.microsoft.com/office/drawing/2014/main" id="{0AA40074-B071-1064-8C22-FA1DB7381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353" y="1111682"/>
            <a:ext cx="3813413" cy="708285"/>
          </a:xfrm>
          <a:prstGeom prst="roundRect">
            <a:avLst>
              <a:gd name="adj" fmla="val 3188"/>
            </a:avLst>
          </a:prstGeom>
          <a:gradFill>
            <a:gsLst>
              <a:gs pos="0">
                <a:srgbClr val="BFE8F6">
                  <a:lumMod val="50000"/>
                  <a:alpha val="37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2900" tIns="21451" rIns="42900" bIns="21451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9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Arial"/>
              <a:sym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1CE703-3FB0-74A8-1107-91240177F4BD}"/>
              </a:ext>
            </a:extLst>
          </p:cNvPr>
          <p:cNvSpPr txBox="1"/>
          <p:nvPr/>
        </p:nvSpPr>
        <p:spPr>
          <a:xfrm>
            <a:off x="642733" y="1169590"/>
            <a:ext cx="32378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BFE8F6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GitHub Copilot Business</a:t>
            </a:r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$19 user / month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926584-3523-EE02-0D8E-4F89E73EA590}"/>
              </a:ext>
            </a:extLst>
          </p:cNvPr>
          <p:cNvSpPr txBox="1"/>
          <p:nvPr/>
        </p:nvSpPr>
        <p:spPr>
          <a:xfrm>
            <a:off x="670744" y="1970303"/>
            <a:ext cx="3757912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Unlimited code completions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Access to code review agent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Includes 1,900 AI Credits per user per month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User management and usage metrics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IP indemnity and data privacy compliance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9" name="Google Shape;161;p20">
            <a:extLst>
              <a:ext uri="{FF2B5EF4-FFF2-40B4-BE49-F238E27FC236}">
                <a16:creationId xmlns:a16="http://schemas.microsoft.com/office/drawing/2014/main" id="{1897C9C2-DCEB-410C-EBDB-1F9B85456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>
          <a:xfrm>
            <a:off x="4646467" y="1050425"/>
            <a:ext cx="3936595" cy="2540518"/>
          </a:xfrm>
          <a:prstGeom prst="roundRect">
            <a:avLst>
              <a:gd name="adj" fmla="val 2919"/>
            </a:avLst>
          </a:prstGeom>
          <a:gradFill>
            <a:gsLst>
              <a:gs pos="0">
                <a:srgbClr val="9477E2">
                  <a:alpha val="20000"/>
                </a:srgbClr>
              </a:gs>
              <a:gs pos="2000">
                <a:srgbClr val="9477E2">
                  <a:alpha val="20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1004285" rIns="0" bIns="0" anchor="t" anchorCtr="0">
            <a:noAutofit/>
          </a:bodyPr>
          <a:lstStyle/>
          <a:p>
            <a:pPr marL="0" marR="0" lvl="0" indent="0" algn="ctr" defTabSz="6086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6" b="1" i="0" u="none" strike="noStrike" kern="1200" cap="none" spc="0" normalizeH="0" baseline="3000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Calibri"/>
              <a:cs typeface="Calibri"/>
              <a:sym typeface="Arial"/>
            </a:endParaRPr>
          </a:p>
        </p:txBody>
      </p:sp>
      <p:sp>
        <p:nvSpPr>
          <p:cNvPr id="42" name="Google Shape;488;p34">
            <a:extLst>
              <a:ext uri="{FF2B5EF4-FFF2-40B4-BE49-F238E27FC236}">
                <a16:creationId xmlns:a16="http://schemas.microsoft.com/office/drawing/2014/main" id="{36226A33-9FC6-E2B8-E479-1FA37744A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231" y="1111700"/>
            <a:ext cx="3813264" cy="708251"/>
          </a:xfrm>
          <a:prstGeom prst="roundRect">
            <a:avLst>
              <a:gd name="adj" fmla="val 3188"/>
            </a:avLst>
          </a:prstGeom>
          <a:gradFill>
            <a:gsLst>
              <a:gs pos="0">
                <a:srgbClr val="FF95FF">
                  <a:alpha val="34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2900" tIns="21451" rIns="42900" bIns="21451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9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Arial"/>
              <a:sym typeface="Calibri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F8D8A6-2A6B-1FB0-9C9E-DCF6E0738268}"/>
              </a:ext>
            </a:extLst>
          </p:cNvPr>
          <p:cNvSpPr txBox="1"/>
          <p:nvPr/>
        </p:nvSpPr>
        <p:spPr>
          <a:xfrm>
            <a:off x="4705815" y="1169590"/>
            <a:ext cx="32378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D59D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GitHub Copilot Enterprise</a:t>
            </a:r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$39 user / month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CB1149-6026-6078-D250-DBFE5127A93E}"/>
              </a:ext>
            </a:extLst>
          </p:cNvPr>
          <p:cNvSpPr txBox="1"/>
          <p:nvPr/>
        </p:nvSpPr>
        <p:spPr>
          <a:xfrm>
            <a:off x="4767847" y="1970302"/>
            <a:ext cx="3125795" cy="630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Everything in GitHub Copilot Business</a:t>
            </a:r>
          </a:p>
          <a:p>
            <a:pPr marL="285115" marR="0" lvl="0" indent="-285115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Includes </a:t>
            </a:r>
            <a:r>
              <a:rPr lang="en-US" sz="1200" u="sng" kern="0" dirty="0">
                <a:solidFill>
                  <a:srgbClr val="FFFFFF"/>
                </a:solidFill>
                <a:latin typeface="Helvetica"/>
                <a:cs typeface="Arial"/>
                <a:sym typeface="Arial"/>
              </a:rPr>
              <a:t>3,9</a:t>
            </a:r>
            <a:r>
              <a:rPr kumimoji="0" lang="en-US" sz="1200" b="0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00 AI Credits per user per month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D03CEDE2-3C91-EAE2-7AC5-2C76003998EB}"/>
              </a:ext>
            </a:extLst>
          </p:cNvPr>
          <p:cNvSpPr/>
          <p:nvPr/>
        </p:nvSpPr>
        <p:spPr>
          <a:xfrm>
            <a:off x="560784" y="3833132"/>
            <a:ext cx="7764066" cy="604638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rgbClr val="D59DFF">
              <a:shade val="15000"/>
            </a:srgbClr>
          </a:lnRef>
          <a:fillRef idx="1">
            <a:srgbClr val="D59DFF"/>
          </a:fillRef>
          <a:effectRef idx="0">
            <a:srgbClr val="D59DFF"/>
          </a:effectRef>
          <a:fontRef idx="minor">
            <a:srgbClr val="FFFFFF"/>
          </a:fontRef>
        </p:style>
        <p:txBody>
          <a:bodyPr lIns="0" tIns="121920" rIns="0" bIns="1219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Helvetica"/>
                <a:sym typeface="Arial"/>
              </a:rPr>
              <a:t>Usage is consumed from shared entitlement pools</a:t>
            </a:r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lang="en-US" sz="1500" dirty="0">
                <a:solidFill>
                  <a:srgbClr val="FFFFFF"/>
                </a:solidFill>
                <a:latin typeface="Helvetica"/>
                <a:cs typeface="Helvetica"/>
                <a:sym typeface="Arial"/>
              </a:rPr>
              <a:t>AI Credits is pooled from Licensed User as Enterprise or Organization wide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Helvetica"/>
              <a:sym typeface="Arial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98A4A2-721C-76B4-46F0-FF7475E5BC2B}"/>
              </a:ext>
            </a:extLst>
          </p:cNvPr>
          <p:cNvSpPr txBox="1"/>
          <p:nvPr/>
        </p:nvSpPr>
        <p:spPr>
          <a:xfrm>
            <a:off x="560784" y="4570658"/>
            <a:ext cx="8153725" cy="9497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788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Arial"/>
                <a:sym typeface="Arial"/>
              </a:rPr>
              <a:t>*Usage past entitlement pool is count as “Overage” and will be billed per metered usage.</a:t>
            </a:r>
          </a:p>
        </p:txBody>
      </p:sp>
      <p:sp>
        <p:nvSpPr>
          <p:cNvPr id="3" name="Title 54">
            <a:extLst>
              <a:ext uri="{FF2B5EF4-FFF2-40B4-BE49-F238E27FC236}">
                <a16:creationId xmlns:a16="http://schemas.microsoft.com/office/drawing/2014/main" id="{63AAE0A4-E389-3800-84F5-C463BAABB112}"/>
              </a:ext>
            </a:extLst>
          </p:cNvPr>
          <p:cNvSpPr txBox="1">
            <a:spLocks/>
          </p:cNvSpPr>
          <p:nvPr/>
        </p:nvSpPr>
        <p:spPr>
          <a:xfrm>
            <a:off x="421499" y="98928"/>
            <a:ext cx="8012906" cy="62865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anchor="b" anchorCtr="0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550" b="1" i="0" u="none" strike="noStrike" kern="1200" cap="none" dirty="0">
                <a:solidFill>
                  <a:srgbClr val="FFFFFF"/>
                </a:solidFill>
                <a:latin typeface="+mn-lt"/>
                <a:ea typeface="+mj-ea"/>
                <a:cs typeface="+mj-cs"/>
                <a:sym typeface="Arial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j-ea"/>
                <a:cs typeface="Helvetica"/>
                <a:sym typeface="Arial"/>
              </a:rPr>
              <a:t>GitHub Copilot Plans and Pricing</a:t>
            </a:r>
            <a:endParaRPr kumimoji="0" lang="en-US" sz="2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j-ea"/>
              <a:cs typeface="+mj-cs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AB4D4-7A43-FB0B-7E06-6891379B0BAD}"/>
              </a:ext>
            </a:extLst>
          </p:cNvPr>
          <p:cNvSpPr txBox="1"/>
          <p:nvPr/>
        </p:nvSpPr>
        <p:spPr>
          <a:xfrm>
            <a:off x="5600700" y="500470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685800">
              <a:spcBef>
                <a:spcPts val="300"/>
              </a:spcBef>
            </a:pPr>
            <a:endParaRPr lang="en-TH" sz="900" dirty="0" err="1">
              <a:solidFill>
                <a:srgbClr val="FFFFFF"/>
              </a:solidFill>
              <a:latin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09EC26-1865-1BE5-FC4B-9F017C451BD1}"/>
              </a:ext>
            </a:extLst>
          </p:cNvPr>
          <p:cNvSpPr txBox="1"/>
          <p:nvPr/>
        </p:nvSpPr>
        <p:spPr>
          <a:xfrm>
            <a:off x="6260693" y="3706214"/>
            <a:ext cx="2700000" cy="2362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 defTabSz="685783">
              <a:spcBef>
                <a:spcPts val="300"/>
              </a:spcBef>
              <a:buClr>
                <a:srgbClr val="000000"/>
              </a:buClr>
              <a:defRPr/>
            </a:pPr>
            <a:r>
              <a:rPr lang="en-US" dirty="0">
                <a:solidFill>
                  <a:srgbClr val="FFFFFF"/>
                </a:solidFill>
              </a:rPr>
              <a:t>1 AI credit = $0.01 USD</a:t>
            </a:r>
            <a:endParaRPr kumimoji="0" lang="en-US" sz="788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 panose="020B0604020202020204" pitchFamily="34" charset="0"/>
              <a:ea typeface="+mn-ea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62D5B6-C4B0-23E9-FC0C-CB6DE4DEC389}"/>
              </a:ext>
            </a:extLst>
          </p:cNvPr>
          <p:cNvSpPr txBox="1"/>
          <p:nvPr/>
        </p:nvSpPr>
        <p:spPr>
          <a:xfrm>
            <a:off x="2269672" y="540475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dirty="0"/>
              <a:t>When your AI credits are exhausted, you can:</a:t>
            </a:r>
          </a:p>
          <a:p>
            <a:r>
              <a:rPr lang="en-US" dirty="0"/>
              <a:t>Set a budget for additional usage and pay extra to continue working</a:t>
            </a:r>
          </a:p>
          <a:p>
            <a:r>
              <a:rPr lang="en-US" dirty="0"/>
              <a:t>Wait until the next monthly cycle when your included usage resets</a:t>
            </a:r>
          </a:p>
          <a:p>
            <a:pPr algn="l" defTabSz="685800">
              <a:spcBef>
                <a:spcPts val="300"/>
              </a:spcBef>
            </a:pPr>
            <a:endParaRPr lang="en-TH" sz="900" dirty="0" err="1">
              <a:solidFill>
                <a:srgbClr val="FFFFFF"/>
              </a:solidFill>
              <a:latin typeface="Helvetica" panose="020B0604020202020204" pitchFamily="34" charset="0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B9EBB841-6CAA-7C38-85D4-F4AB1EE15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1840D-FF51-3245-2AED-0C3B1265B9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137" y="289834"/>
            <a:ext cx="8538493" cy="488467"/>
          </a:xfrm>
        </p:spPr>
        <p:txBody>
          <a:bodyPr/>
          <a:lstStyle/>
          <a:p>
            <a:r>
              <a:rPr lang="en-US" sz="3600">
                <a:solidFill>
                  <a:srgbClr val="FFFFFF"/>
                </a:solidFill>
                <a:latin typeface="Mona Sans Display"/>
              </a:rPr>
              <a:t>Usage-based billing (UBB)</a:t>
            </a:r>
            <a:endParaRPr lang="en-US"/>
          </a:p>
        </p:txBody>
      </p:sp>
      <p:sp>
        <p:nvSpPr>
          <p:cNvPr id="4" name="Google Shape;920;p60">
            <a:extLst>
              <a:ext uri="{FF2B5EF4-FFF2-40B4-BE49-F238E27FC236}">
                <a16:creationId xmlns:a16="http://schemas.microsoft.com/office/drawing/2014/main" id="{4022B5EB-16AD-30FD-E35E-D798DD5890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691" y="908635"/>
            <a:ext cx="7079059" cy="693359"/>
          </a:xfrm>
          <a:prstGeom prst="roundRect">
            <a:avLst>
              <a:gd name="adj" fmla="val 5240"/>
            </a:avLst>
          </a:prstGeom>
          <a:noFill/>
          <a:ln w="7144" cap="flat" cmpd="sng" algn="ctr">
            <a:solidFill>
              <a:srgbClr val="5EEC8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rgbClr val="5EEC83"/>
          </a:fontRef>
        </p:style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40">
              <a:buClr>
                <a:srgbClr val="000000"/>
              </a:buClr>
            </a:pPr>
            <a:r>
              <a:rPr lang="en-US" sz="2400" b="1" kern="0">
                <a:solidFill>
                  <a:srgbClr val="5EEC83"/>
                </a:solidFill>
                <a:latin typeface="Mona Sans" pitchFamily="2" charset="77"/>
                <a:cs typeface="Arial"/>
                <a:sym typeface="Arial"/>
              </a:rPr>
              <a:t>Billable tokens = input + output + cached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CC64B0-6A02-7DF6-7620-2004D1BAA964}"/>
              </a:ext>
            </a:extLst>
          </p:cNvPr>
          <p:cNvSpPr txBox="1"/>
          <p:nvPr/>
        </p:nvSpPr>
        <p:spPr>
          <a:xfrm>
            <a:off x="478474" y="2755451"/>
            <a:ext cx="6830929" cy="692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4" indent="-285744" defTabSz="914057">
              <a:buFont typeface="Arial" panose="020B0604020202020204" pitchFamily="34" charset="0"/>
              <a:buChar char="•"/>
            </a:pPr>
            <a:r>
              <a:rPr lang="en-US" sz="1349">
                <a:solidFill>
                  <a:srgbClr val="FFFFFF"/>
                </a:solidFill>
                <a:latin typeface="Mona Sans" pitchFamily="2" charset="77"/>
                <a:cs typeface="Mona Sans" pitchFamily="2" charset="77"/>
                <a:sym typeface="Arial"/>
              </a:rPr>
              <a:t>Copilot usage is measured by the total tokens processed in each interaction.</a:t>
            </a:r>
          </a:p>
          <a:p>
            <a:pPr marL="285744" indent="-285744" defTabSz="914057">
              <a:buFont typeface="Arial" panose="020B0604020202020204" pitchFamily="34" charset="0"/>
              <a:buChar char="•"/>
            </a:pPr>
            <a:r>
              <a:rPr lang="en-US" sz="1349">
                <a:solidFill>
                  <a:srgbClr val="FFFFFF"/>
                </a:solidFill>
                <a:latin typeface="Mona Sans" pitchFamily="2" charset="77"/>
                <a:cs typeface="Mona Sans" pitchFamily="2" charset="77"/>
                <a:sym typeface="Arial"/>
              </a:rPr>
              <a:t>Tokens consume AI credits (as determined by model rate)</a:t>
            </a:r>
          </a:p>
          <a:p>
            <a:pPr marL="285744" indent="-285744" defTabSz="914057">
              <a:buFont typeface="Arial" panose="020B0604020202020204" pitchFamily="34" charset="0"/>
              <a:buChar char="•"/>
            </a:pPr>
            <a:r>
              <a:rPr lang="en-US" sz="1349">
                <a:solidFill>
                  <a:srgbClr val="FFFFFF"/>
                </a:solidFill>
                <a:latin typeface="Mona Sans" pitchFamily="2" charset="77"/>
                <a:cs typeface="Mona Sans" pitchFamily="2" charset="77"/>
                <a:sym typeface="Arial"/>
              </a:rPr>
              <a:t>AI credits are used to determine billing</a:t>
            </a:r>
            <a:endParaRPr lang="en-US" sz="1349" b="1">
              <a:solidFill>
                <a:srgbClr val="FFFFFF"/>
              </a:solidFill>
              <a:latin typeface="Mona Sans" pitchFamily="2" charset="77"/>
              <a:cs typeface="Mona Sans" pitchFamily="2" charset="77"/>
              <a:sym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9AC216-326A-0D24-2AB9-D9BA4D57013F}"/>
              </a:ext>
            </a:extLst>
          </p:cNvPr>
          <p:cNvSpPr txBox="1"/>
          <p:nvPr/>
        </p:nvSpPr>
        <p:spPr>
          <a:xfrm>
            <a:off x="572305" y="4315748"/>
            <a:ext cx="8265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57"/>
            <a:r>
              <a:rPr lang="en-US" sz="1200" b="1">
                <a:solidFill>
                  <a:srgbClr val="5EEC83"/>
                </a:solidFill>
                <a:latin typeface="Mona Sans" pitchFamily="2" charset="77"/>
                <a:cs typeface="Mona Sans" pitchFamily="2" charset="77"/>
                <a:sym typeface="Arial"/>
              </a:rPr>
              <a:t>What this means: 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Mona Sans" pitchFamily="2" charset="77"/>
                <a:sym typeface="Arial"/>
              </a:rPr>
              <a:t>Larger prompts, longer responses, or more context result in more tokens processed and more credits consumed.</a:t>
            </a:r>
          </a:p>
        </p:txBody>
      </p:sp>
      <p:grpSp>
        <p:nvGrpSpPr>
          <p:cNvPr id="13" name="Google Shape;1216;p64">
            <a:extLst>
              <a:ext uri="{FF2B5EF4-FFF2-40B4-BE49-F238E27FC236}">
                <a16:creationId xmlns:a16="http://schemas.microsoft.com/office/drawing/2014/main" id="{91F96BC4-270E-95ED-E2CC-41D4267BE6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7690" y="4358087"/>
            <a:ext cx="168622" cy="169235"/>
            <a:chOff x="3019162" y="3321638"/>
            <a:chExt cx="46350" cy="46519"/>
          </a:xfrm>
          <a:solidFill>
            <a:srgbClr val="BEFFD0"/>
          </a:solidFill>
        </p:grpSpPr>
        <p:sp>
          <p:nvSpPr>
            <p:cNvPr id="14" name="Google Shape;1217;p64">
              <a:extLst>
                <a:ext uri="{FF2B5EF4-FFF2-40B4-BE49-F238E27FC236}">
                  <a16:creationId xmlns:a16="http://schemas.microsoft.com/office/drawing/2014/main" id="{2C34EC15-6DC7-68DA-B985-2FD9302C8C6F}"/>
                </a:ext>
              </a:extLst>
            </p:cNvPr>
            <p:cNvSpPr/>
            <p:nvPr/>
          </p:nvSpPr>
          <p:spPr>
            <a:xfrm>
              <a:off x="3031819" y="3337931"/>
              <a:ext cx="21038" cy="14888"/>
            </a:xfrm>
            <a:custGeom>
              <a:avLst/>
              <a:gdLst/>
              <a:ahLst/>
              <a:cxnLst/>
              <a:rect l="l" t="t" r="r" b="b"/>
              <a:pathLst>
                <a:path w="1122" h="794" extrusionOk="0">
                  <a:moveTo>
                    <a:pt x="1036" y="0"/>
                  </a:moveTo>
                  <a:cubicBezTo>
                    <a:pt x="1016" y="0"/>
                    <a:pt x="995" y="9"/>
                    <a:pt x="979" y="26"/>
                  </a:cubicBezTo>
                  <a:lnTo>
                    <a:pt x="405" y="599"/>
                  </a:lnTo>
                  <a:lnTo>
                    <a:pt x="144" y="346"/>
                  </a:lnTo>
                  <a:cubicBezTo>
                    <a:pt x="127" y="329"/>
                    <a:pt x="106" y="321"/>
                    <a:pt x="86" y="321"/>
                  </a:cubicBezTo>
                  <a:cubicBezTo>
                    <a:pt x="66" y="321"/>
                    <a:pt x="47" y="329"/>
                    <a:pt x="34" y="346"/>
                  </a:cubicBezTo>
                  <a:cubicBezTo>
                    <a:pt x="0" y="372"/>
                    <a:pt x="0" y="422"/>
                    <a:pt x="34" y="456"/>
                  </a:cubicBezTo>
                  <a:lnTo>
                    <a:pt x="346" y="768"/>
                  </a:lnTo>
                  <a:cubicBezTo>
                    <a:pt x="363" y="785"/>
                    <a:pt x="384" y="793"/>
                    <a:pt x="404" y="793"/>
                  </a:cubicBezTo>
                  <a:cubicBezTo>
                    <a:pt x="424" y="793"/>
                    <a:pt x="443" y="785"/>
                    <a:pt x="456" y="768"/>
                  </a:cubicBezTo>
                  <a:lnTo>
                    <a:pt x="1088" y="135"/>
                  </a:lnTo>
                  <a:cubicBezTo>
                    <a:pt x="1122" y="110"/>
                    <a:pt x="1122" y="60"/>
                    <a:pt x="1088" y="26"/>
                  </a:cubicBezTo>
                  <a:cubicBezTo>
                    <a:pt x="1075" y="9"/>
                    <a:pt x="1057" y="0"/>
                    <a:pt x="10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15" name="Google Shape;1218;p64">
              <a:extLst>
                <a:ext uri="{FF2B5EF4-FFF2-40B4-BE49-F238E27FC236}">
                  <a16:creationId xmlns:a16="http://schemas.microsoft.com/office/drawing/2014/main" id="{B59EA695-4AEC-E4CE-478D-CA762EDABB78}"/>
                </a:ext>
              </a:extLst>
            </p:cNvPr>
            <p:cNvSpPr/>
            <p:nvPr/>
          </p:nvSpPr>
          <p:spPr>
            <a:xfrm>
              <a:off x="3019162" y="3321638"/>
              <a:ext cx="46350" cy="46519"/>
            </a:xfrm>
            <a:custGeom>
              <a:avLst/>
              <a:gdLst/>
              <a:ahLst/>
              <a:cxnLst/>
              <a:rect l="l" t="t" r="r" b="b"/>
              <a:pathLst>
                <a:path w="2472" h="2481" extrusionOk="0">
                  <a:moveTo>
                    <a:pt x="1460" y="102"/>
                  </a:moveTo>
                  <a:cubicBezTo>
                    <a:pt x="1325" y="1"/>
                    <a:pt x="1148" y="1"/>
                    <a:pt x="1013" y="102"/>
                  </a:cubicBezTo>
                  <a:lnTo>
                    <a:pt x="869" y="212"/>
                  </a:lnTo>
                  <a:cubicBezTo>
                    <a:pt x="836" y="229"/>
                    <a:pt x="802" y="245"/>
                    <a:pt x="768" y="245"/>
                  </a:cubicBezTo>
                  <a:lnTo>
                    <a:pt x="591" y="279"/>
                  </a:lnTo>
                  <a:cubicBezTo>
                    <a:pt x="422" y="304"/>
                    <a:pt x="296" y="431"/>
                    <a:pt x="271" y="591"/>
                  </a:cubicBezTo>
                  <a:lnTo>
                    <a:pt x="245" y="777"/>
                  </a:lnTo>
                  <a:cubicBezTo>
                    <a:pt x="237" y="810"/>
                    <a:pt x="228" y="844"/>
                    <a:pt x="203" y="869"/>
                  </a:cubicBezTo>
                  <a:lnTo>
                    <a:pt x="102" y="1013"/>
                  </a:lnTo>
                  <a:cubicBezTo>
                    <a:pt x="1" y="1148"/>
                    <a:pt x="1" y="1333"/>
                    <a:pt x="102" y="1468"/>
                  </a:cubicBezTo>
                  <a:lnTo>
                    <a:pt x="203" y="1612"/>
                  </a:lnTo>
                  <a:cubicBezTo>
                    <a:pt x="228" y="1637"/>
                    <a:pt x="237" y="1671"/>
                    <a:pt x="245" y="1713"/>
                  </a:cubicBezTo>
                  <a:lnTo>
                    <a:pt x="271" y="1890"/>
                  </a:lnTo>
                  <a:cubicBezTo>
                    <a:pt x="296" y="2050"/>
                    <a:pt x="422" y="2177"/>
                    <a:pt x="591" y="2202"/>
                  </a:cubicBezTo>
                  <a:lnTo>
                    <a:pt x="768" y="2236"/>
                  </a:lnTo>
                  <a:cubicBezTo>
                    <a:pt x="802" y="2236"/>
                    <a:pt x="836" y="2252"/>
                    <a:pt x="869" y="2269"/>
                  </a:cubicBezTo>
                  <a:lnTo>
                    <a:pt x="1013" y="2379"/>
                  </a:lnTo>
                  <a:cubicBezTo>
                    <a:pt x="1148" y="2480"/>
                    <a:pt x="1325" y="2480"/>
                    <a:pt x="1460" y="2379"/>
                  </a:cubicBezTo>
                  <a:lnTo>
                    <a:pt x="1603" y="2269"/>
                  </a:lnTo>
                  <a:cubicBezTo>
                    <a:pt x="1637" y="2252"/>
                    <a:pt x="1670" y="2236"/>
                    <a:pt x="1704" y="2236"/>
                  </a:cubicBezTo>
                  <a:lnTo>
                    <a:pt x="1881" y="2202"/>
                  </a:lnTo>
                  <a:cubicBezTo>
                    <a:pt x="2050" y="2177"/>
                    <a:pt x="2176" y="2050"/>
                    <a:pt x="2202" y="1890"/>
                  </a:cubicBezTo>
                  <a:lnTo>
                    <a:pt x="2227" y="1713"/>
                  </a:lnTo>
                  <a:cubicBezTo>
                    <a:pt x="2235" y="1671"/>
                    <a:pt x="2244" y="1637"/>
                    <a:pt x="2269" y="1612"/>
                  </a:cubicBezTo>
                  <a:lnTo>
                    <a:pt x="2379" y="1468"/>
                  </a:lnTo>
                  <a:cubicBezTo>
                    <a:pt x="2472" y="1333"/>
                    <a:pt x="2472" y="1148"/>
                    <a:pt x="2379" y="1013"/>
                  </a:cubicBezTo>
                  <a:lnTo>
                    <a:pt x="2269" y="869"/>
                  </a:lnTo>
                  <a:cubicBezTo>
                    <a:pt x="2244" y="844"/>
                    <a:pt x="2235" y="810"/>
                    <a:pt x="2227" y="777"/>
                  </a:cubicBezTo>
                  <a:lnTo>
                    <a:pt x="2202" y="591"/>
                  </a:lnTo>
                  <a:cubicBezTo>
                    <a:pt x="2176" y="431"/>
                    <a:pt x="2050" y="304"/>
                    <a:pt x="1881" y="279"/>
                  </a:cubicBezTo>
                  <a:lnTo>
                    <a:pt x="1704" y="245"/>
                  </a:lnTo>
                  <a:cubicBezTo>
                    <a:pt x="1670" y="245"/>
                    <a:pt x="1637" y="229"/>
                    <a:pt x="1603" y="212"/>
                  </a:cubicBezTo>
                  <a:close/>
                  <a:moveTo>
                    <a:pt x="1105" y="229"/>
                  </a:moveTo>
                  <a:cubicBezTo>
                    <a:pt x="1181" y="170"/>
                    <a:pt x="1291" y="170"/>
                    <a:pt x="1367" y="229"/>
                  </a:cubicBezTo>
                  <a:lnTo>
                    <a:pt x="1510" y="338"/>
                  </a:lnTo>
                  <a:cubicBezTo>
                    <a:pt x="1561" y="372"/>
                    <a:pt x="1620" y="397"/>
                    <a:pt x="1679" y="406"/>
                  </a:cubicBezTo>
                  <a:lnTo>
                    <a:pt x="1856" y="431"/>
                  </a:lnTo>
                  <a:cubicBezTo>
                    <a:pt x="1957" y="448"/>
                    <a:pt x="2033" y="524"/>
                    <a:pt x="2041" y="616"/>
                  </a:cubicBezTo>
                  <a:lnTo>
                    <a:pt x="2075" y="794"/>
                  </a:lnTo>
                  <a:cubicBezTo>
                    <a:pt x="2084" y="861"/>
                    <a:pt x="2100" y="912"/>
                    <a:pt x="2143" y="962"/>
                  </a:cubicBezTo>
                  <a:lnTo>
                    <a:pt x="2244" y="1106"/>
                  </a:lnTo>
                  <a:cubicBezTo>
                    <a:pt x="2303" y="1190"/>
                    <a:pt x="2303" y="1291"/>
                    <a:pt x="2244" y="1375"/>
                  </a:cubicBezTo>
                  <a:lnTo>
                    <a:pt x="2143" y="1519"/>
                  </a:lnTo>
                  <a:cubicBezTo>
                    <a:pt x="2100" y="1569"/>
                    <a:pt x="2084" y="1628"/>
                    <a:pt x="2075" y="1687"/>
                  </a:cubicBezTo>
                  <a:lnTo>
                    <a:pt x="2041" y="1865"/>
                  </a:lnTo>
                  <a:cubicBezTo>
                    <a:pt x="2033" y="1957"/>
                    <a:pt x="1957" y="2033"/>
                    <a:pt x="1856" y="2050"/>
                  </a:cubicBezTo>
                  <a:lnTo>
                    <a:pt x="1679" y="2075"/>
                  </a:lnTo>
                  <a:cubicBezTo>
                    <a:pt x="1620" y="2084"/>
                    <a:pt x="1561" y="2109"/>
                    <a:pt x="1510" y="2143"/>
                  </a:cubicBezTo>
                  <a:lnTo>
                    <a:pt x="1367" y="2252"/>
                  </a:lnTo>
                  <a:cubicBezTo>
                    <a:pt x="1291" y="2312"/>
                    <a:pt x="1181" y="2312"/>
                    <a:pt x="1105" y="2252"/>
                  </a:cubicBezTo>
                  <a:lnTo>
                    <a:pt x="962" y="2143"/>
                  </a:lnTo>
                  <a:cubicBezTo>
                    <a:pt x="911" y="2109"/>
                    <a:pt x="852" y="2084"/>
                    <a:pt x="793" y="2075"/>
                  </a:cubicBezTo>
                  <a:lnTo>
                    <a:pt x="616" y="2050"/>
                  </a:lnTo>
                  <a:cubicBezTo>
                    <a:pt x="515" y="2033"/>
                    <a:pt x="439" y="1957"/>
                    <a:pt x="431" y="1865"/>
                  </a:cubicBezTo>
                  <a:lnTo>
                    <a:pt x="397" y="1687"/>
                  </a:lnTo>
                  <a:cubicBezTo>
                    <a:pt x="389" y="1628"/>
                    <a:pt x="372" y="1569"/>
                    <a:pt x="330" y="1519"/>
                  </a:cubicBezTo>
                  <a:lnTo>
                    <a:pt x="228" y="1375"/>
                  </a:lnTo>
                  <a:cubicBezTo>
                    <a:pt x="169" y="1291"/>
                    <a:pt x="169" y="1190"/>
                    <a:pt x="228" y="1106"/>
                  </a:cubicBezTo>
                  <a:lnTo>
                    <a:pt x="330" y="962"/>
                  </a:lnTo>
                  <a:cubicBezTo>
                    <a:pt x="372" y="912"/>
                    <a:pt x="389" y="861"/>
                    <a:pt x="397" y="794"/>
                  </a:cubicBezTo>
                  <a:lnTo>
                    <a:pt x="431" y="616"/>
                  </a:lnTo>
                  <a:cubicBezTo>
                    <a:pt x="439" y="524"/>
                    <a:pt x="515" y="448"/>
                    <a:pt x="616" y="431"/>
                  </a:cubicBezTo>
                  <a:lnTo>
                    <a:pt x="793" y="406"/>
                  </a:lnTo>
                  <a:cubicBezTo>
                    <a:pt x="852" y="397"/>
                    <a:pt x="911" y="372"/>
                    <a:pt x="962" y="33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F75EA6A2-BEEE-01AB-80BE-A872994B9616}"/>
              </a:ext>
            </a:extLst>
          </p:cNvPr>
          <p:cNvSpPr txBox="1">
            <a:spLocks/>
          </p:cNvSpPr>
          <p:nvPr/>
        </p:nvSpPr>
        <p:spPr>
          <a:xfrm>
            <a:off x="478474" y="2356754"/>
            <a:ext cx="2640329" cy="342900"/>
          </a:xfrm>
          <a:prstGeom prst="rect">
            <a:avLst/>
          </a:prstGeom>
        </p:spPr>
        <p:txBody>
          <a:bodyPr lIns="91440" tIns="45720" rIns="91440" bIns="4572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500" b="1">
                <a:solidFill>
                  <a:srgbClr val="BEFFD0"/>
                </a:solidFill>
                <a:latin typeface="Mona Sans Display" pitchFamily="2" charset="77"/>
                <a:cs typeface="Mona Sans Display" pitchFamily="2" charset="77"/>
                <a:sym typeface="Arial"/>
              </a:rPr>
              <a:t>How billing works: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D3FE23-268F-DCF3-0E72-3CC579C13A96}"/>
              </a:ext>
            </a:extLst>
          </p:cNvPr>
          <p:cNvSpPr/>
          <p:nvPr/>
        </p:nvSpPr>
        <p:spPr>
          <a:xfrm>
            <a:off x="357691" y="1889250"/>
            <a:ext cx="7079059" cy="1777314"/>
          </a:xfrm>
          <a:prstGeom prst="roundRect">
            <a:avLst>
              <a:gd name="adj" fmla="val 3250"/>
            </a:avLst>
          </a:prstGeom>
          <a:noFill/>
          <a:ln>
            <a:solidFill>
              <a:srgbClr val="BEFFD0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r>
              <a:rPr lang="en-US" sz="1349">
                <a:noFill/>
                <a:latin typeface="Arial" panose="020B0604020202020204"/>
                <a:sym typeface="Arial"/>
              </a:rPr>
              <a:t>c</a:t>
            </a:r>
          </a:p>
        </p:txBody>
      </p:sp>
      <p:grpSp>
        <p:nvGrpSpPr>
          <p:cNvPr id="11" name="Google Shape;1093;p63">
            <a:extLst>
              <a:ext uri="{FF2B5EF4-FFF2-40B4-BE49-F238E27FC236}">
                <a16:creationId xmlns:a16="http://schemas.microsoft.com/office/drawing/2014/main" id="{FA0628E9-F32A-5E1D-4956-9CD6D1C48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26312" y="2118635"/>
            <a:ext cx="226268" cy="210220"/>
            <a:chOff x="3279581" y="2182725"/>
            <a:chExt cx="42562" cy="39544"/>
          </a:xfrm>
          <a:solidFill>
            <a:srgbClr val="BEFFD0"/>
          </a:solidFill>
        </p:grpSpPr>
        <p:sp>
          <p:nvSpPr>
            <p:cNvPr id="27" name="Google Shape;1094;p63">
              <a:extLst>
                <a:ext uri="{FF2B5EF4-FFF2-40B4-BE49-F238E27FC236}">
                  <a16:creationId xmlns:a16="http://schemas.microsoft.com/office/drawing/2014/main" id="{762E14BE-B24E-4913-B4FB-F633A6E65D4C}"/>
                </a:ext>
              </a:extLst>
            </p:cNvPr>
            <p:cNvSpPr/>
            <p:nvPr/>
          </p:nvSpPr>
          <p:spPr>
            <a:xfrm>
              <a:off x="3279581" y="2182725"/>
              <a:ext cx="38925" cy="39544"/>
            </a:xfrm>
            <a:custGeom>
              <a:avLst/>
              <a:gdLst/>
              <a:ahLst/>
              <a:cxnLst/>
              <a:rect l="l" t="t" r="r" b="b"/>
              <a:pathLst>
                <a:path w="2076" h="2109" extrusionOk="0">
                  <a:moveTo>
                    <a:pt x="77" y="0"/>
                  </a:moveTo>
                  <a:cubicBezTo>
                    <a:pt x="34" y="0"/>
                    <a:pt x="1" y="34"/>
                    <a:pt x="1" y="76"/>
                  </a:cubicBezTo>
                  <a:lnTo>
                    <a:pt x="1" y="2033"/>
                  </a:lnTo>
                  <a:cubicBezTo>
                    <a:pt x="1" y="2075"/>
                    <a:pt x="34" y="2109"/>
                    <a:pt x="77" y="2109"/>
                  </a:cubicBezTo>
                  <a:lnTo>
                    <a:pt x="1999" y="2109"/>
                  </a:lnTo>
                  <a:cubicBezTo>
                    <a:pt x="2041" y="2109"/>
                    <a:pt x="2075" y="2075"/>
                    <a:pt x="2075" y="2033"/>
                  </a:cubicBezTo>
                  <a:cubicBezTo>
                    <a:pt x="2075" y="1982"/>
                    <a:pt x="2041" y="1948"/>
                    <a:pt x="1999" y="1948"/>
                  </a:cubicBezTo>
                  <a:lnTo>
                    <a:pt x="152" y="1948"/>
                  </a:lnTo>
                  <a:lnTo>
                    <a:pt x="152" y="76"/>
                  </a:lnTo>
                  <a:cubicBezTo>
                    <a:pt x="152" y="34"/>
                    <a:pt x="119" y="0"/>
                    <a:pt x="7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28" name="Google Shape;1095;p63">
              <a:extLst>
                <a:ext uri="{FF2B5EF4-FFF2-40B4-BE49-F238E27FC236}">
                  <a16:creationId xmlns:a16="http://schemas.microsoft.com/office/drawing/2014/main" id="{817F1223-C009-7D77-ED1F-AC6C6D274084}"/>
                </a:ext>
              </a:extLst>
            </p:cNvPr>
            <p:cNvSpPr/>
            <p:nvPr/>
          </p:nvSpPr>
          <p:spPr>
            <a:xfrm>
              <a:off x="3286219" y="2191575"/>
              <a:ext cx="35925" cy="18844"/>
            </a:xfrm>
            <a:custGeom>
              <a:avLst/>
              <a:gdLst/>
              <a:ahLst/>
              <a:cxnLst/>
              <a:rect l="l" t="t" r="r" b="b"/>
              <a:pathLst>
                <a:path w="1916" h="1005" extrusionOk="0">
                  <a:moveTo>
                    <a:pt x="1831" y="1"/>
                  </a:moveTo>
                  <a:cubicBezTo>
                    <a:pt x="1810" y="1"/>
                    <a:pt x="1789" y="9"/>
                    <a:pt x="1772" y="26"/>
                  </a:cubicBezTo>
                  <a:lnTo>
                    <a:pt x="1173" y="633"/>
                  </a:lnTo>
                  <a:lnTo>
                    <a:pt x="777" y="237"/>
                  </a:lnTo>
                  <a:cubicBezTo>
                    <a:pt x="764" y="220"/>
                    <a:pt x="745" y="212"/>
                    <a:pt x="725" y="212"/>
                  </a:cubicBezTo>
                  <a:cubicBezTo>
                    <a:pt x="705" y="212"/>
                    <a:pt x="684" y="220"/>
                    <a:pt x="667" y="237"/>
                  </a:cubicBezTo>
                  <a:lnTo>
                    <a:pt x="35" y="869"/>
                  </a:lnTo>
                  <a:cubicBezTo>
                    <a:pt x="1" y="903"/>
                    <a:pt x="1" y="954"/>
                    <a:pt x="35" y="979"/>
                  </a:cubicBezTo>
                  <a:cubicBezTo>
                    <a:pt x="51" y="996"/>
                    <a:pt x="73" y="1004"/>
                    <a:pt x="93" y="1004"/>
                  </a:cubicBezTo>
                  <a:cubicBezTo>
                    <a:pt x="113" y="1004"/>
                    <a:pt x="132" y="996"/>
                    <a:pt x="144" y="979"/>
                  </a:cubicBezTo>
                  <a:lnTo>
                    <a:pt x="726" y="405"/>
                  </a:lnTo>
                  <a:lnTo>
                    <a:pt x="1114" y="793"/>
                  </a:lnTo>
                  <a:cubicBezTo>
                    <a:pt x="1131" y="810"/>
                    <a:pt x="1152" y="819"/>
                    <a:pt x="1172" y="819"/>
                  </a:cubicBezTo>
                  <a:cubicBezTo>
                    <a:pt x="1192" y="819"/>
                    <a:pt x="1211" y="810"/>
                    <a:pt x="1224" y="793"/>
                  </a:cubicBezTo>
                  <a:lnTo>
                    <a:pt x="1890" y="136"/>
                  </a:lnTo>
                  <a:cubicBezTo>
                    <a:pt x="1915" y="110"/>
                    <a:pt x="1915" y="60"/>
                    <a:pt x="1890" y="26"/>
                  </a:cubicBezTo>
                  <a:cubicBezTo>
                    <a:pt x="1873" y="9"/>
                    <a:pt x="1852" y="1"/>
                    <a:pt x="18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29" name="Rounded Rectangle 28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34C970-DC23-CF91-91C7-C64EE420F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832" y="597324"/>
            <a:ext cx="8536909" cy="661510"/>
          </a:xfrm>
        </p:spPr>
        <p:txBody>
          <a:bodyPr/>
          <a:lstStyle/>
          <a:p>
            <a:r>
              <a:rPr lang="en-US">
                <a:solidFill>
                  <a:srgbClr val="FFFFFF"/>
                </a:solidFill>
              </a:rPr>
              <a:t>How </a:t>
            </a:r>
            <a:r>
              <a:rPr lang="en-US">
                <a:solidFill>
                  <a:srgbClr val="8BF1A6"/>
                </a:solidFill>
              </a:rPr>
              <a:t>usage budgets</a:t>
            </a:r>
            <a:r>
              <a:rPr lang="en-US">
                <a:solidFill>
                  <a:srgbClr val="FFFFFF"/>
                </a:solidFill>
              </a:rPr>
              <a:t> work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EA1D5C27-C384-4FF1-5BD0-FADC39EBE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943" y="1283176"/>
            <a:ext cx="8534686" cy="274320"/>
          </a:xfrm>
        </p:spPr>
        <p:txBody>
          <a:bodyPr/>
          <a:lstStyle/>
          <a:p>
            <a:r>
              <a:rPr lang="en-US">
                <a:solidFill>
                  <a:srgbClr val="CBD3E8"/>
                </a:solidFill>
              </a:rPr>
              <a:t>Budgets are applied in layers, Lowest remaining headroom takes priority.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54AC51-0C56-DF4F-00AE-164907065672}"/>
              </a:ext>
            </a:extLst>
          </p:cNvPr>
          <p:cNvSpPr/>
          <p:nvPr/>
        </p:nvSpPr>
        <p:spPr>
          <a:xfrm>
            <a:off x="302942" y="1764130"/>
            <a:ext cx="2788812" cy="2590700"/>
          </a:xfrm>
          <a:prstGeom prst="roundRect">
            <a:avLst>
              <a:gd name="adj" fmla="val 4770"/>
            </a:avLst>
          </a:prstGeom>
          <a:solidFill>
            <a:srgbClr val="000000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endParaRPr lang="en-US" sz="1349">
              <a:solidFill>
                <a:srgbClr val="FFFFFF"/>
              </a:solidFill>
              <a:latin typeface="Arial" panose="020B0604020202020204"/>
              <a:sym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6770593-0108-9A96-75DC-FF25A279739B}"/>
              </a:ext>
            </a:extLst>
          </p:cNvPr>
          <p:cNvSpPr/>
          <p:nvPr/>
        </p:nvSpPr>
        <p:spPr>
          <a:xfrm>
            <a:off x="3253548" y="1764130"/>
            <a:ext cx="2788812" cy="2590700"/>
          </a:xfrm>
          <a:prstGeom prst="roundRect">
            <a:avLst>
              <a:gd name="adj" fmla="val 4770"/>
            </a:avLst>
          </a:prstGeom>
          <a:solidFill>
            <a:srgbClr val="000000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endParaRPr lang="en-US" sz="1349">
              <a:solidFill>
                <a:srgbClr val="FFFFFF"/>
              </a:solidFill>
              <a:latin typeface="Arial" panose="020B0604020202020204"/>
              <a:sym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FB04AB-5977-E9CB-AA4E-1C67783B0A9A}"/>
              </a:ext>
            </a:extLst>
          </p:cNvPr>
          <p:cNvSpPr/>
          <p:nvPr/>
        </p:nvSpPr>
        <p:spPr>
          <a:xfrm>
            <a:off x="6201652" y="1764130"/>
            <a:ext cx="2788812" cy="2590700"/>
          </a:xfrm>
          <a:prstGeom prst="roundRect">
            <a:avLst>
              <a:gd name="adj" fmla="val 4770"/>
            </a:avLst>
          </a:prstGeom>
          <a:solidFill>
            <a:srgbClr val="000000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endParaRPr lang="en-US" sz="1349">
              <a:solidFill>
                <a:srgbClr val="FFFFFF"/>
              </a:solidFill>
              <a:latin typeface="Arial" panose="020B0604020202020204"/>
              <a:sym typeface="Arial"/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547697C0-7BC1-7A5C-6FA8-49F8343EC52D}"/>
              </a:ext>
            </a:extLst>
          </p:cNvPr>
          <p:cNvSpPr txBox="1">
            <a:spLocks/>
          </p:cNvSpPr>
          <p:nvPr/>
        </p:nvSpPr>
        <p:spPr>
          <a:xfrm>
            <a:off x="438634" y="2054133"/>
            <a:ext cx="2640329" cy="342900"/>
          </a:xfrm>
          <a:prstGeom prst="rect">
            <a:avLst/>
          </a:prstGeom>
        </p:spPr>
        <p:txBody>
          <a:bodyPr lIns="91440" tIns="45720" rIns="91440" bIns="4572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800" b="1">
                <a:solidFill>
                  <a:srgbClr val="8BF1A6"/>
                </a:solidFill>
                <a:latin typeface="Mona Sans Display"/>
                <a:sym typeface="Arial"/>
              </a:rPr>
              <a:t>Enterprise level Budget </a:t>
            </a:r>
            <a:endParaRPr lang="en-US" sz="1800" b="1">
              <a:solidFill>
                <a:srgbClr val="8BF1A6"/>
              </a:solidFill>
              <a:sym typeface="Arial"/>
            </a:endParaRP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B031657C-22F2-3D2F-054F-E792F9831068}"/>
              </a:ext>
            </a:extLst>
          </p:cNvPr>
          <p:cNvSpPr txBox="1">
            <a:spLocks/>
          </p:cNvSpPr>
          <p:nvPr/>
        </p:nvSpPr>
        <p:spPr>
          <a:xfrm>
            <a:off x="438632" y="2446021"/>
            <a:ext cx="2640330" cy="1316429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050" i="1" dirty="0">
                <a:solidFill>
                  <a:srgbClr val="FFFFFF"/>
                </a:solidFill>
                <a:latin typeface="Helvetica" pitchFamily="2" charset="0"/>
                <a:cs typeface="Mona Sans" pitchFamily="2" charset="77"/>
                <a:sym typeface="Arial"/>
              </a:rPr>
              <a:t>Overage only</a:t>
            </a:r>
          </a:p>
          <a:p>
            <a:pPr defTabSz="914012"/>
            <a:r>
              <a:rPr lang="en-US" sz="1050" dirty="0">
                <a:solidFill>
                  <a:srgbClr val="FFFFFF"/>
                </a:solidFill>
                <a:latin typeface="Helvetica" pitchFamily="2" charset="0"/>
                <a:sym typeface="Arial"/>
              </a:rPr>
              <a:t>Controls whether overage is allowed and can limit total overage spend beyond entitlement pool at the enterprise level. </a:t>
            </a:r>
            <a:endParaRPr lang="en-US" sz="1050" i="1" dirty="0">
              <a:solidFill>
                <a:srgbClr val="FFFFFF"/>
              </a:solidFill>
              <a:latin typeface="Helvetica" pitchFamily="2" charset="0"/>
              <a:cs typeface="Mona Sans" pitchFamily="2" charset="77"/>
              <a:sym typeface="Arial"/>
            </a:endParaRP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EF0D19A2-334B-B7DA-8442-8F3311A47138}"/>
              </a:ext>
            </a:extLst>
          </p:cNvPr>
          <p:cNvSpPr txBox="1">
            <a:spLocks/>
          </p:cNvSpPr>
          <p:nvPr/>
        </p:nvSpPr>
        <p:spPr>
          <a:xfrm>
            <a:off x="3389239" y="2054133"/>
            <a:ext cx="2640330" cy="342900"/>
          </a:xfrm>
          <a:prstGeom prst="rect">
            <a:avLst/>
          </a:prstGeom>
        </p:spPr>
        <p:txBody>
          <a:bodyPr/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800" b="1">
                <a:solidFill>
                  <a:srgbClr val="8BF1A6"/>
                </a:solidFill>
                <a:latin typeface="Mona Sans Display" pitchFamily="2" charset="77"/>
                <a:cs typeface="Mona Sans Display" pitchFamily="2" charset="77"/>
                <a:sym typeface="Arial"/>
              </a:rPr>
              <a:t>Cost center budgets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E75475E5-E004-8E89-33A9-6E734D3E270F}"/>
              </a:ext>
            </a:extLst>
          </p:cNvPr>
          <p:cNvSpPr txBox="1">
            <a:spLocks/>
          </p:cNvSpPr>
          <p:nvPr/>
        </p:nvSpPr>
        <p:spPr>
          <a:xfrm>
            <a:off x="3389239" y="2446021"/>
            <a:ext cx="2640330" cy="1316429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050" i="1" dirty="0">
                <a:solidFill>
                  <a:srgbClr val="FFFFFF"/>
                </a:solidFill>
                <a:latin typeface="Helvetica" pitchFamily="2" charset="0"/>
                <a:cs typeface="Mona Sans" pitchFamily="2" charset="77"/>
                <a:sym typeface="Arial"/>
              </a:rPr>
              <a:t>Overage only</a:t>
            </a:r>
          </a:p>
          <a:p>
            <a:pPr defTabSz="914012"/>
            <a:r>
              <a:rPr lang="en-US" sz="1050" dirty="0">
                <a:solidFill>
                  <a:srgbClr val="FFFFFF"/>
                </a:solidFill>
                <a:latin typeface="Helvetica" pitchFamily="2" charset="0"/>
                <a:sym typeface="Arial"/>
              </a:rPr>
              <a:t>Apply after the entitlement pool is exhausted and control how much additional spend a team can incur. </a:t>
            </a:r>
            <a:endParaRPr lang="en-US" sz="1050" i="1" dirty="0">
              <a:solidFill>
                <a:srgbClr val="FFFFFF"/>
              </a:solidFill>
              <a:latin typeface="Helvetica" pitchFamily="2" charset="0"/>
              <a:cs typeface="Mona Sans" pitchFamily="2" charset="77"/>
              <a:sym typeface="Arial"/>
            </a:endParaRP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AD3DA2B-C0E2-E010-35EF-5816249FD473}"/>
              </a:ext>
            </a:extLst>
          </p:cNvPr>
          <p:cNvSpPr txBox="1">
            <a:spLocks/>
          </p:cNvSpPr>
          <p:nvPr/>
        </p:nvSpPr>
        <p:spPr>
          <a:xfrm>
            <a:off x="6339846" y="2054133"/>
            <a:ext cx="2640330" cy="342900"/>
          </a:xfrm>
          <a:prstGeom prst="rect">
            <a:avLst/>
          </a:prstGeom>
        </p:spPr>
        <p:txBody>
          <a:bodyPr/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800" b="1" dirty="0">
                <a:solidFill>
                  <a:srgbClr val="8BF1A6"/>
                </a:solidFill>
                <a:latin typeface="Mona Sans Display" pitchFamily="2" charset="77"/>
                <a:cs typeface="Mona Sans Display" pitchFamily="2" charset="77"/>
                <a:sym typeface="Arial"/>
              </a:rPr>
              <a:t>User level Budget</a:t>
            </a:r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00CA5233-AB21-1D22-3B5D-B5C9D67ED13A}"/>
              </a:ext>
            </a:extLst>
          </p:cNvPr>
          <p:cNvSpPr txBox="1">
            <a:spLocks/>
          </p:cNvSpPr>
          <p:nvPr/>
        </p:nvSpPr>
        <p:spPr>
          <a:xfrm>
            <a:off x="6339845" y="2446021"/>
            <a:ext cx="2640330" cy="1316429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050" i="1" dirty="0">
                <a:solidFill>
                  <a:srgbClr val="FFFFFF"/>
                </a:solidFill>
                <a:latin typeface="Helvetica" pitchFamily="2" charset="0"/>
                <a:cs typeface="Mona Sans" pitchFamily="2" charset="77"/>
                <a:sym typeface="Arial"/>
              </a:rPr>
              <a:t>Total usage (optional)</a:t>
            </a:r>
          </a:p>
          <a:p>
            <a:pPr defTabSz="914012"/>
            <a:r>
              <a:rPr lang="en-US" sz="1050" dirty="0">
                <a:solidFill>
                  <a:srgbClr val="FFFFFF"/>
                </a:solidFill>
                <a:latin typeface="Helvetica" pitchFamily="2" charset="0"/>
                <a:sym typeface="Arial"/>
              </a:rPr>
              <a:t>These apply across both included usage and overage, regardless of whether usage is drawn from pooled credits or additional spend.</a:t>
            </a:r>
            <a:endParaRPr lang="en-US" sz="1050" i="1" dirty="0">
              <a:solidFill>
                <a:srgbClr val="FFFFFF"/>
              </a:solidFill>
              <a:latin typeface="Helvetica" pitchFamily="2" charset="0"/>
              <a:cs typeface="Mona Sans" pitchFamily="2" charset="77"/>
              <a:sym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BCFF199-F075-5326-9480-F8BE6E909C39}"/>
              </a:ext>
            </a:extLst>
          </p:cNvPr>
          <p:cNvSpPr/>
          <p:nvPr/>
        </p:nvSpPr>
        <p:spPr>
          <a:xfrm>
            <a:off x="302942" y="1258834"/>
            <a:ext cx="4149714" cy="3287342"/>
          </a:xfrm>
          <a:prstGeom prst="roundRect">
            <a:avLst>
              <a:gd name="adj" fmla="val 4770"/>
            </a:avLst>
          </a:prstGeom>
          <a:solidFill>
            <a:srgbClr val="0C1116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5EEC83">
              <a:shade val="15000"/>
            </a:srgbClr>
          </a:lnRef>
          <a:fillRef idx="1">
            <a:srgbClr val="5EEC83"/>
          </a:fillRef>
          <a:effectRef idx="0">
            <a:srgbClr val="5EEC83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B768AA-694C-B14E-831C-5725A8070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1064" y="1745673"/>
            <a:ext cx="3079866" cy="2531225"/>
          </a:xfrm>
        </p:spPr>
        <p:txBody>
          <a:bodyPr/>
          <a:lstStyle/>
          <a:p>
            <a:r>
              <a:rPr lang="en-US" sz="1800">
                <a:solidFill>
                  <a:srgbClr val="FF4AC0"/>
                </a:solidFill>
              </a:rPr>
              <a:t>Reduce context size</a:t>
            </a:r>
          </a:p>
          <a:p>
            <a:r>
              <a:rPr lang="en-US" sz="1350"/>
              <a:t>Don’t send entire repos</a:t>
            </a:r>
          </a:p>
          <a:p>
            <a:endParaRPr lang="en-US" sz="1350"/>
          </a:p>
          <a:p>
            <a:r>
              <a:rPr lang="en-US" sz="1800">
                <a:solidFill>
                  <a:srgbClr val="FF4AC0"/>
                </a:solidFill>
              </a:rPr>
              <a:t>Scope prompts tightly</a:t>
            </a:r>
          </a:p>
          <a:p>
            <a:r>
              <a:rPr lang="en-US" sz="1350"/>
              <a:t>Smaller inputs = fewer tokens</a:t>
            </a:r>
          </a:p>
          <a:p>
            <a:endParaRPr lang="en-US" sz="1350"/>
          </a:p>
          <a:p>
            <a:r>
              <a:rPr lang="en-US" sz="1800">
                <a:solidFill>
                  <a:srgbClr val="FF4AC0"/>
                </a:solidFill>
              </a:rPr>
              <a:t>Default to Auto</a:t>
            </a:r>
          </a:p>
          <a:p>
            <a:r>
              <a:rPr lang="en-US" sz="1350"/>
              <a:t>Override only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0B4234-C399-25E5-0E5F-C340585DD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831" y="597324"/>
            <a:ext cx="8536909" cy="661510"/>
          </a:xfrm>
        </p:spPr>
        <p:txBody>
          <a:bodyPr/>
          <a:lstStyle/>
          <a:p>
            <a:r>
              <a:rPr lang="en-US" sz="2800">
                <a:solidFill>
                  <a:srgbClr val="FFFFFF"/>
                </a:solidFill>
              </a:rPr>
              <a:t>Practical </a:t>
            </a:r>
            <a:r>
              <a:rPr lang="en-US" sz="2800">
                <a:solidFill>
                  <a:srgbClr val="FF4AC0"/>
                </a:solidFill>
              </a:rPr>
              <a:t>changes</a:t>
            </a:r>
            <a:r>
              <a:rPr lang="en-US" sz="2800">
                <a:solidFill>
                  <a:srgbClr val="FFFFFF"/>
                </a:solidFill>
              </a:rPr>
              <a:t> teams should make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56E96DB-41A0-FBA2-A525-CFE6269EEB6C}"/>
              </a:ext>
            </a:extLst>
          </p:cNvPr>
          <p:cNvSpPr/>
          <p:nvPr/>
        </p:nvSpPr>
        <p:spPr>
          <a:xfrm>
            <a:off x="4570286" y="1258834"/>
            <a:ext cx="4149714" cy="3287342"/>
          </a:xfrm>
          <a:prstGeom prst="roundRect">
            <a:avLst>
              <a:gd name="adj" fmla="val 4770"/>
            </a:avLst>
          </a:prstGeom>
          <a:solidFill>
            <a:srgbClr val="0C1116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5EEC83">
              <a:shade val="15000"/>
            </a:srgbClr>
          </a:lnRef>
          <a:fillRef idx="1">
            <a:srgbClr val="5EEC83"/>
          </a:fillRef>
          <a:effectRef idx="0">
            <a:srgbClr val="5EEC83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169324AC-60BC-8883-3595-9F840D77779A}"/>
              </a:ext>
            </a:extLst>
          </p:cNvPr>
          <p:cNvSpPr txBox="1">
            <a:spLocks/>
          </p:cNvSpPr>
          <p:nvPr/>
        </p:nvSpPr>
        <p:spPr>
          <a:xfrm>
            <a:off x="5362900" y="2238201"/>
            <a:ext cx="3034149" cy="153993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>
                <a:solidFill>
                  <a:srgbClr val="FF4AC0"/>
                </a:solidFill>
              </a:rPr>
              <a:t>Monitor heavy usage</a:t>
            </a:r>
          </a:p>
          <a:p>
            <a:r>
              <a:rPr lang="en-US" sz="1350"/>
              <a:t>Agents + power users drive spikes</a:t>
            </a:r>
          </a:p>
          <a:p>
            <a:endParaRPr lang="en-US" sz="1350"/>
          </a:p>
          <a:p>
            <a:r>
              <a:rPr lang="en-US" sz="1800">
                <a:solidFill>
                  <a:srgbClr val="FF4AC0"/>
                </a:solidFill>
              </a:rPr>
              <a:t>Set user limits</a:t>
            </a:r>
          </a:p>
          <a:p>
            <a:r>
              <a:rPr lang="en-US" sz="1350"/>
              <a:t>Only true guardrail</a:t>
            </a:r>
          </a:p>
        </p:txBody>
      </p:sp>
      <p:sp>
        <p:nvSpPr>
          <p:cNvPr id="11" name="Google Shape;1203;p64">
            <a:extLst>
              <a:ext uri="{FF2B5EF4-FFF2-40B4-BE49-F238E27FC236}">
                <a16:creationId xmlns:a16="http://schemas.microsoft.com/office/drawing/2014/main" id="{9CC0CA0D-3684-417F-8DEE-D0273335B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1468" y="1778826"/>
            <a:ext cx="137050" cy="137947"/>
          </a:xfrm>
          <a:custGeom>
            <a:avLst/>
            <a:gdLst/>
            <a:ahLst/>
            <a:cxnLst/>
            <a:rect l="l" t="t" r="r" b="b"/>
            <a:pathLst>
              <a:path w="1375" h="1384" extrusionOk="0">
                <a:moveTo>
                  <a:pt x="1299" y="270"/>
                </a:moveTo>
                <a:cubicBezTo>
                  <a:pt x="1341" y="270"/>
                  <a:pt x="1375" y="312"/>
                  <a:pt x="1375" y="354"/>
                </a:cubicBezTo>
                <a:lnTo>
                  <a:pt x="1375" y="1299"/>
                </a:lnTo>
                <a:cubicBezTo>
                  <a:pt x="1375" y="1341"/>
                  <a:pt x="1341" y="1383"/>
                  <a:pt x="1299" y="1383"/>
                </a:cubicBezTo>
                <a:lnTo>
                  <a:pt x="346" y="1383"/>
                </a:lnTo>
                <a:cubicBezTo>
                  <a:pt x="304" y="1383"/>
                  <a:pt x="270" y="1341"/>
                  <a:pt x="270" y="1299"/>
                </a:cubicBezTo>
                <a:cubicBezTo>
                  <a:pt x="270" y="1257"/>
                  <a:pt x="304" y="1223"/>
                  <a:pt x="346" y="1223"/>
                </a:cubicBezTo>
                <a:lnTo>
                  <a:pt x="1105" y="1223"/>
                </a:lnTo>
                <a:lnTo>
                  <a:pt x="25" y="144"/>
                </a:lnTo>
                <a:cubicBezTo>
                  <a:pt x="0" y="110"/>
                  <a:pt x="0" y="59"/>
                  <a:pt x="25" y="34"/>
                </a:cubicBezTo>
                <a:cubicBezTo>
                  <a:pt x="59" y="0"/>
                  <a:pt x="110" y="0"/>
                  <a:pt x="143" y="34"/>
                </a:cubicBezTo>
                <a:lnTo>
                  <a:pt x="1214" y="1113"/>
                </a:lnTo>
                <a:lnTo>
                  <a:pt x="1214" y="354"/>
                </a:lnTo>
                <a:cubicBezTo>
                  <a:pt x="1214" y="312"/>
                  <a:pt x="1248" y="270"/>
                  <a:pt x="1299" y="270"/>
                </a:cubicBezTo>
                <a:close/>
              </a:path>
            </a:pathLst>
          </a:custGeom>
          <a:solidFill>
            <a:srgbClr val="FF4AC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400" kern="0">
              <a:solidFill>
                <a:srgbClr val="000000"/>
              </a:solidFill>
              <a:latin typeface="Mona Sans" pitchFamily="2" charset="77"/>
              <a:cs typeface="Arial"/>
              <a:sym typeface="Arial"/>
            </a:endParaRPr>
          </a:p>
        </p:txBody>
      </p:sp>
      <p:grpSp>
        <p:nvGrpSpPr>
          <p:cNvPr id="13" name="Google Shape;1501;p66">
            <a:extLst>
              <a:ext uri="{FF2B5EF4-FFF2-40B4-BE49-F238E27FC236}">
                <a16:creationId xmlns:a16="http://schemas.microsoft.com/office/drawing/2014/main" id="{535E7E53-0981-E9CF-FB88-184FAA4B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88854" y="2571750"/>
            <a:ext cx="242277" cy="242277"/>
            <a:chOff x="2896144" y="1324931"/>
            <a:chExt cx="45562" cy="45562"/>
          </a:xfrm>
          <a:solidFill>
            <a:srgbClr val="FF4AC0"/>
          </a:solidFill>
        </p:grpSpPr>
        <p:sp>
          <p:nvSpPr>
            <p:cNvPr id="14" name="Google Shape;1502;p66">
              <a:extLst>
                <a:ext uri="{FF2B5EF4-FFF2-40B4-BE49-F238E27FC236}">
                  <a16:creationId xmlns:a16="http://schemas.microsoft.com/office/drawing/2014/main" id="{A8EC874C-A8CD-E830-1F5C-700A431F46AD}"/>
                </a:ext>
              </a:extLst>
            </p:cNvPr>
            <p:cNvSpPr/>
            <p:nvPr/>
          </p:nvSpPr>
          <p:spPr>
            <a:xfrm>
              <a:off x="2906269" y="1338806"/>
              <a:ext cx="20100" cy="14288"/>
            </a:xfrm>
            <a:custGeom>
              <a:avLst/>
              <a:gdLst/>
              <a:ahLst/>
              <a:cxnLst/>
              <a:rect l="l" t="t" r="r" b="b"/>
              <a:pathLst>
                <a:path w="1072" h="762" extrusionOk="0">
                  <a:moveTo>
                    <a:pt x="986" y="1"/>
                  </a:moveTo>
                  <a:cubicBezTo>
                    <a:pt x="966" y="1"/>
                    <a:pt x="945" y="7"/>
                    <a:pt x="928" y="20"/>
                  </a:cubicBezTo>
                  <a:lnTo>
                    <a:pt x="380" y="568"/>
                  </a:lnTo>
                  <a:lnTo>
                    <a:pt x="144" y="340"/>
                  </a:lnTo>
                  <a:cubicBezTo>
                    <a:pt x="127" y="323"/>
                    <a:pt x="108" y="315"/>
                    <a:pt x="89" y="315"/>
                  </a:cubicBezTo>
                  <a:cubicBezTo>
                    <a:pt x="70" y="315"/>
                    <a:pt x="51" y="323"/>
                    <a:pt x="34" y="340"/>
                  </a:cubicBezTo>
                  <a:cubicBezTo>
                    <a:pt x="1" y="365"/>
                    <a:pt x="1" y="416"/>
                    <a:pt x="34" y="450"/>
                  </a:cubicBezTo>
                  <a:lnTo>
                    <a:pt x="321" y="737"/>
                  </a:lnTo>
                  <a:cubicBezTo>
                    <a:pt x="338" y="753"/>
                    <a:pt x="359" y="762"/>
                    <a:pt x="380" y="762"/>
                  </a:cubicBezTo>
                  <a:cubicBezTo>
                    <a:pt x="401" y="762"/>
                    <a:pt x="422" y="753"/>
                    <a:pt x="439" y="737"/>
                  </a:cubicBezTo>
                  <a:lnTo>
                    <a:pt x="1038" y="138"/>
                  </a:lnTo>
                  <a:cubicBezTo>
                    <a:pt x="1072" y="104"/>
                    <a:pt x="1072" y="53"/>
                    <a:pt x="1038" y="20"/>
                  </a:cubicBezTo>
                  <a:cubicBezTo>
                    <a:pt x="1025" y="7"/>
                    <a:pt x="1006" y="1"/>
                    <a:pt x="98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" name="Google Shape;1503;p66">
              <a:extLst>
                <a:ext uri="{FF2B5EF4-FFF2-40B4-BE49-F238E27FC236}">
                  <a16:creationId xmlns:a16="http://schemas.microsoft.com/office/drawing/2014/main" id="{DDAE53F4-1682-9E31-A9F7-97AF12660D8A}"/>
                </a:ext>
              </a:extLst>
            </p:cNvPr>
            <p:cNvSpPr/>
            <p:nvPr/>
          </p:nvSpPr>
          <p:spPr>
            <a:xfrm>
              <a:off x="2896144" y="1324931"/>
              <a:ext cx="45562" cy="45562"/>
            </a:xfrm>
            <a:custGeom>
              <a:avLst/>
              <a:gdLst/>
              <a:ahLst/>
              <a:cxnLst/>
              <a:rect l="l" t="t" r="r" b="b"/>
              <a:pathLst>
                <a:path w="2430" h="2430" extrusionOk="0">
                  <a:moveTo>
                    <a:pt x="1" y="1105"/>
                  </a:moveTo>
                  <a:cubicBezTo>
                    <a:pt x="1" y="498"/>
                    <a:pt x="490" y="1"/>
                    <a:pt x="1106" y="1"/>
                  </a:cubicBezTo>
                  <a:cubicBezTo>
                    <a:pt x="1713" y="1"/>
                    <a:pt x="2210" y="498"/>
                    <a:pt x="2210" y="1105"/>
                  </a:cubicBezTo>
                  <a:cubicBezTo>
                    <a:pt x="2210" y="1384"/>
                    <a:pt x="2109" y="1637"/>
                    <a:pt x="1940" y="1831"/>
                  </a:cubicBezTo>
                  <a:lnTo>
                    <a:pt x="2396" y="2295"/>
                  </a:lnTo>
                  <a:cubicBezTo>
                    <a:pt x="2430" y="2320"/>
                    <a:pt x="2430" y="2370"/>
                    <a:pt x="2396" y="2404"/>
                  </a:cubicBezTo>
                  <a:cubicBezTo>
                    <a:pt x="2371" y="2429"/>
                    <a:pt x="2320" y="2429"/>
                    <a:pt x="2286" y="2404"/>
                  </a:cubicBezTo>
                  <a:lnTo>
                    <a:pt x="1831" y="1940"/>
                  </a:lnTo>
                  <a:cubicBezTo>
                    <a:pt x="1637" y="2109"/>
                    <a:pt x="1384" y="2219"/>
                    <a:pt x="1106" y="2219"/>
                  </a:cubicBezTo>
                  <a:cubicBezTo>
                    <a:pt x="490" y="2219"/>
                    <a:pt x="1" y="1721"/>
                    <a:pt x="1" y="1105"/>
                  </a:cubicBezTo>
                  <a:close/>
                  <a:moveTo>
                    <a:pt x="1106" y="161"/>
                  </a:moveTo>
                  <a:cubicBezTo>
                    <a:pt x="583" y="161"/>
                    <a:pt x="153" y="583"/>
                    <a:pt x="153" y="1105"/>
                  </a:cubicBezTo>
                  <a:cubicBezTo>
                    <a:pt x="153" y="1628"/>
                    <a:pt x="583" y="2058"/>
                    <a:pt x="1106" y="2058"/>
                  </a:cubicBezTo>
                  <a:cubicBezTo>
                    <a:pt x="1628" y="2058"/>
                    <a:pt x="2050" y="1628"/>
                    <a:pt x="2050" y="1105"/>
                  </a:cubicBezTo>
                  <a:cubicBezTo>
                    <a:pt x="2050" y="583"/>
                    <a:pt x="1628" y="161"/>
                    <a:pt x="1106" y="1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6" name="Google Shape;1152;p64">
            <a:extLst>
              <a:ext uri="{FF2B5EF4-FFF2-40B4-BE49-F238E27FC236}">
                <a16:creationId xmlns:a16="http://schemas.microsoft.com/office/drawing/2014/main" id="{A0679FA9-AB02-7C41-5083-BF9588E9A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99237" y="3546894"/>
            <a:ext cx="231240" cy="231240"/>
            <a:chOff x="3147075" y="3196725"/>
            <a:chExt cx="43500" cy="43500"/>
          </a:xfrm>
          <a:solidFill>
            <a:srgbClr val="FF4AC0"/>
          </a:solidFill>
        </p:grpSpPr>
        <p:sp>
          <p:nvSpPr>
            <p:cNvPr id="17" name="Google Shape;1153;p64">
              <a:extLst>
                <a:ext uri="{FF2B5EF4-FFF2-40B4-BE49-F238E27FC236}">
                  <a16:creationId xmlns:a16="http://schemas.microsoft.com/office/drawing/2014/main" id="{868BAB32-E382-0F2D-F585-E206E83A6913}"/>
                </a:ext>
              </a:extLst>
            </p:cNvPr>
            <p:cNvSpPr/>
            <p:nvPr/>
          </p:nvSpPr>
          <p:spPr>
            <a:xfrm>
              <a:off x="3147075" y="3196725"/>
              <a:ext cx="43031" cy="18244"/>
            </a:xfrm>
            <a:custGeom>
              <a:avLst/>
              <a:gdLst/>
              <a:ahLst/>
              <a:cxnLst/>
              <a:rect l="l" t="t" r="r" b="b"/>
              <a:pathLst>
                <a:path w="2295" h="973" extrusionOk="0">
                  <a:moveTo>
                    <a:pt x="1165" y="1"/>
                  </a:moveTo>
                  <a:cubicBezTo>
                    <a:pt x="735" y="1"/>
                    <a:pt x="364" y="229"/>
                    <a:pt x="161" y="574"/>
                  </a:cubicBezTo>
                  <a:lnTo>
                    <a:pt x="161" y="389"/>
                  </a:lnTo>
                  <a:cubicBezTo>
                    <a:pt x="161" y="347"/>
                    <a:pt x="127" y="313"/>
                    <a:pt x="77" y="313"/>
                  </a:cubicBezTo>
                  <a:cubicBezTo>
                    <a:pt x="35" y="313"/>
                    <a:pt x="1" y="347"/>
                    <a:pt x="1" y="389"/>
                  </a:cubicBezTo>
                  <a:lnTo>
                    <a:pt x="1" y="785"/>
                  </a:lnTo>
                  <a:cubicBezTo>
                    <a:pt x="1" y="844"/>
                    <a:pt x="51" y="895"/>
                    <a:pt x="111" y="895"/>
                  </a:cubicBezTo>
                  <a:lnTo>
                    <a:pt x="498" y="895"/>
                  </a:lnTo>
                  <a:cubicBezTo>
                    <a:pt x="549" y="895"/>
                    <a:pt x="583" y="861"/>
                    <a:pt x="583" y="810"/>
                  </a:cubicBezTo>
                  <a:cubicBezTo>
                    <a:pt x="583" y="768"/>
                    <a:pt x="549" y="735"/>
                    <a:pt x="498" y="735"/>
                  </a:cubicBezTo>
                  <a:lnTo>
                    <a:pt x="254" y="735"/>
                  </a:lnTo>
                  <a:cubicBezTo>
                    <a:pt x="414" y="389"/>
                    <a:pt x="760" y="153"/>
                    <a:pt x="1165" y="153"/>
                  </a:cubicBezTo>
                  <a:cubicBezTo>
                    <a:pt x="1628" y="153"/>
                    <a:pt x="2025" y="482"/>
                    <a:pt x="2134" y="912"/>
                  </a:cubicBezTo>
                  <a:cubicBezTo>
                    <a:pt x="2142" y="948"/>
                    <a:pt x="2175" y="972"/>
                    <a:pt x="2211" y="972"/>
                  </a:cubicBezTo>
                  <a:cubicBezTo>
                    <a:pt x="2216" y="972"/>
                    <a:pt x="2222" y="972"/>
                    <a:pt x="2227" y="971"/>
                  </a:cubicBezTo>
                  <a:cubicBezTo>
                    <a:pt x="2269" y="962"/>
                    <a:pt x="2295" y="920"/>
                    <a:pt x="2286" y="878"/>
                  </a:cubicBezTo>
                  <a:cubicBezTo>
                    <a:pt x="2160" y="372"/>
                    <a:pt x="1704" y="1"/>
                    <a:pt x="11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18" name="Google Shape;1154;p64">
              <a:extLst>
                <a:ext uri="{FF2B5EF4-FFF2-40B4-BE49-F238E27FC236}">
                  <a16:creationId xmlns:a16="http://schemas.microsoft.com/office/drawing/2014/main" id="{5648BE04-CECE-4E78-25A1-EDC9B504C2A1}"/>
                </a:ext>
              </a:extLst>
            </p:cNvPr>
            <p:cNvSpPr/>
            <p:nvPr/>
          </p:nvSpPr>
          <p:spPr>
            <a:xfrm>
              <a:off x="3147562" y="3221850"/>
              <a:ext cx="43012" cy="18375"/>
            </a:xfrm>
            <a:custGeom>
              <a:avLst/>
              <a:gdLst/>
              <a:ahLst/>
              <a:cxnLst/>
              <a:rect l="l" t="t" r="r" b="b"/>
              <a:pathLst>
                <a:path w="2294" h="980" extrusionOk="0">
                  <a:moveTo>
                    <a:pt x="84" y="0"/>
                  </a:moveTo>
                  <a:cubicBezTo>
                    <a:pt x="79" y="0"/>
                    <a:pt x="73" y="1"/>
                    <a:pt x="68" y="2"/>
                  </a:cubicBezTo>
                  <a:cubicBezTo>
                    <a:pt x="25" y="10"/>
                    <a:pt x="0" y="61"/>
                    <a:pt x="9" y="103"/>
                  </a:cubicBezTo>
                  <a:cubicBezTo>
                    <a:pt x="135" y="600"/>
                    <a:pt x="590" y="980"/>
                    <a:pt x="1139" y="980"/>
                  </a:cubicBezTo>
                  <a:cubicBezTo>
                    <a:pt x="1560" y="980"/>
                    <a:pt x="1931" y="744"/>
                    <a:pt x="2134" y="398"/>
                  </a:cubicBezTo>
                  <a:lnTo>
                    <a:pt x="2134" y="584"/>
                  </a:lnTo>
                  <a:cubicBezTo>
                    <a:pt x="2134" y="626"/>
                    <a:pt x="2167" y="659"/>
                    <a:pt x="2218" y="659"/>
                  </a:cubicBezTo>
                  <a:cubicBezTo>
                    <a:pt x="2260" y="659"/>
                    <a:pt x="2294" y="626"/>
                    <a:pt x="2294" y="584"/>
                  </a:cubicBezTo>
                  <a:lnTo>
                    <a:pt x="2294" y="187"/>
                  </a:lnTo>
                  <a:cubicBezTo>
                    <a:pt x="2294" y="128"/>
                    <a:pt x="2243" y="78"/>
                    <a:pt x="2193" y="78"/>
                  </a:cubicBezTo>
                  <a:lnTo>
                    <a:pt x="1796" y="78"/>
                  </a:lnTo>
                  <a:cubicBezTo>
                    <a:pt x="1746" y="78"/>
                    <a:pt x="1712" y="120"/>
                    <a:pt x="1712" y="162"/>
                  </a:cubicBezTo>
                  <a:cubicBezTo>
                    <a:pt x="1712" y="204"/>
                    <a:pt x="1746" y="238"/>
                    <a:pt x="1796" y="238"/>
                  </a:cubicBezTo>
                  <a:lnTo>
                    <a:pt x="2041" y="238"/>
                  </a:lnTo>
                  <a:cubicBezTo>
                    <a:pt x="1881" y="584"/>
                    <a:pt x="1535" y="820"/>
                    <a:pt x="1139" y="820"/>
                  </a:cubicBezTo>
                  <a:cubicBezTo>
                    <a:pt x="666" y="820"/>
                    <a:pt x="270" y="499"/>
                    <a:pt x="160" y="61"/>
                  </a:cubicBezTo>
                  <a:cubicBezTo>
                    <a:pt x="153" y="24"/>
                    <a:pt x="120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19" name="Google Shape;1093;p63">
            <a:extLst>
              <a:ext uri="{FF2B5EF4-FFF2-40B4-BE49-F238E27FC236}">
                <a16:creationId xmlns:a16="http://schemas.microsoft.com/office/drawing/2014/main" id="{9133694B-2B06-C018-F491-15AF88D6C7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99052" y="2238201"/>
            <a:ext cx="226268" cy="210220"/>
            <a:chOff x="3279581" y="2182725"/>
            <a:chExt cx="42562" cy="39544"/>
          </a:xfrm>
          <a:solidFill>
            <a:srgbClr val="FF4AC0"/>
          </a:solidFill>
        </p:grpSpPr>
        <p:sp>
          <p:nvSpPr>
            <p:cNvPr id="20" name="Google Shape;1094;p63">
              <a:extLst>
                <a:ext uri="{FF2B5EF4-FFF2-40B4-BE49-F238E27FC236}">
                  <a16:creationId xmlns:a16="http://schemas.microsoft.com/office/drawing/2014/main" id="{43EACFE3-64AB-E56D-1BD1-F948A4D6F0FD}"/>
                </a:ext>
              </a:extLst>
            </p:cNvPr>
            <p:cNvSpPr/>
            <p:nvPr/>
          </p:nvSpPr>
          <p:spPr>
            <a:xfrm>
              <a:off x="3279581" y="2182725"/>
              <a:ext cx="38925" cy="39544"/>
            </a:xfrm>
            <a:custGeom>
              <a:avLst/>
              <a:gdLst/>
              <a:ahLst/>
              <a:cxnLst/>
              <a:rect l="l" t="t" r="r" b="b"/>
              <a:pathLst>
                <a:path w="2076" h="2109" extrusionOk="0">
                  <a:moveTo>
                    <a:pt x="77" y="0"/>
                  </a:moveTo>
                  <a:cubicBezTo>
                    <a:pt x="34" y="0"/>
                    <a:pt x="1" y="34"/>
                    <a:pt x="1" y="76"/>
                  </a:cubicBezTo>
                  <a:lnTo>
                    <a:pt x="1" y="2033"/>
                  </a:lnTo>
                  <a:cubicBezTo>
                    <a:pt x="1" y="2075"/>
                    <a:pt x="34" y="2109"/>
                    <a:pt x="77" y="2109"/>
                  </a:cubicBezTo>
                  <a:lnTo>
                    <a:pt x="1999" y="2109"/>
                  </a:lnTo>
                  <a:cubicBezTo>
                    <a:pt x="2041" y="2109"/>
                    <a:pt x="2075" y="2075"/>
                    <a:pt x="2075" y="2033"/>
                  </a:cubicBezTo>
                  <a:cubicBezTo>
                    <a:pt x="2075" y="1982"/>
                    <a:pt x="2041" y="1948"/>
                    <a:pt x="1999" y="1948"/>
                  </a:cubicBezTo>
                  <a:lnTo>
                    <a:pt x="152" y="1948"/>
                  </a:lnTo>
                  <a:lnTo>
                    <a:pt x="152" y="76"/>
                  </a:lnTo>
                  <a:cubicBezTo>
                    <a:pt x="152" y="34"/>
                    <a:pt x="119" y="0"/>
                    <a:pt x="7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21" name="Google Shape;1095;p63">
              <a:extLst>
                <a:ext uri="{FF2B5EF4-FFF2-40B4-BE49-F238E27FC236}">
                  <a16:creationId xmlns:a16="http://schemas.microsoft.com/office/drawing/2014/main" id="{1BF7483B-10CB-F2D5-7B38-82E604219B77}"/>
                </a:ext>
              </a:extLst>
            </p:cNvPr>
            <p:cNvSpPr/>
            <p:nvPr/>
          </p:nvSpPr>
          <p:spPr>
            <a:xfrm>
              <a:off x="3286219" y="2191575"/>
              <a:ext cx="35925" cy="18844"/>
            </a:xfrm>
            <a:custGeom>
              <a:avLst/>
              <a:gdLst/>
              <a:ahLst/>
              <a:cxnLst/>
              <a:rect l="l" t="t" r="r" b="b"/>
              <a:pathLst>
                <a:path w="1916" h="1005" extrusionOk="0">
                  <a:moveTo>
                    <a:pt x="1831" y="1"/>
                  </a:moveTo>
                  <a:cubicBezTo>
                    <a:pt x="1810" y="1"/>
                    <a:pt x="1789" y="9"/>
                    <a:pt x="1772" y="26"/>
                  </a:cubicBezTo>
                  <a:lnTo>
                    <a:pt x="1173" y="633"/>
                  </a:lnTo>
                  <a:lnTo>
                    <a:pt x="777" y="237"/>
                  </a:lnTo>
                  <a:cubicBezTo>
                    <a:pt x="764" y="220"/>
                    <a:pt x="745" y="212"/>
                    <a:pt x="725" y="212"/>
                  </a:cubicBezTo>
                  <a:cubicBezTo>
                    <a:pt x="705" y="212"/>
                    <a:pt x="684" y="220"/>
                    <a:pt x="667" y="237"/>
                  </a:cubicBezTo>
                  <a:lnTo>
                    <a:pt x="35" y="869"/>
                  </a:lnTo>
                  <a:cubicBezTo>
                    <a:pt x="1" y="903"/>
                    <a:pt x="1" y="954"/>
                    <a:pt x="35" y="979"/>
                  </a:cubicBezTo>
                  <a:cubicBezTo>
                    <a:pt x="51" y="996"/>
                    <a:pt x="73" y="1004"/>
                    <a:pt x="93" y="1004"/>
                  </a:cubicBezTo>
                  <a:cubicBezTo>
                    <a:pt x="113" y="1004"/>
                    <a:pt x="132" y="996"/>
                    <a:pt x="144" y="979"/>
                  </a:cubicBezTo>
                  <a:lnTo>
                    <a:pt x="726" y="405"/>
                  </a:lnTo>
                  <a:lnTo>
                    <a:pt x="1114" y="793"/>
                  </a:lnTo>
                  <a:cubicBezTo>
                    <a:pt x="1131" y="810"/>
                    <a:pt x="1152" y="819"/>
                    <a:pt x="1172" y="819"/>
                  </a:cubicBezTo>
                  <a:cubicBezTo>
                    <a:pt x="1192" y="819"/>
                    <a:pt x="1211" y="810"/>
                    <a:pt x="1224" y="793"/>
                  </a:cubicBezTo>
                  <a:lnTo>
                    <a:pt x="1890" y="136"/>
                  </a:lnTo>
                  <a:cubicBezTo>
                    <a:pt x="1915" y="110"/>
                    <a:pt x="1915" y="60"/>
                    <a:pt x="1890" y="26"/>
                  </a:cubicBezTo>
                  <a:cubicBezTo>
                    <a:pt x="1873" y="9"/>
                    <a:pt x="1852" y="1"/>
                    <a:pt x="18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22" name="Google Shape;1027;p63">
            <a:extLst>
              <a:ext uri="{FF2B5EF4-FFF2-40B4-BE49-F238E27FC236}">
                <a16:creationId xmlns:a16="http://schemas.microsoft.com/office/drawing/2014/main" id="{2789B43C-2AF6-51BA-D5ED-9E637717E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07873" y="3120454"/>
            <a:ext cx="189288" cy="220387"/>
          </a:xfrm>
          <a:custGeom>
            <a:avLst/>
            <a:gdLst/>
            <a:ahLst/>
            <a:cxnLst/>
            <a:rect l="l" t="t" r="r" b="b"/>
            <a:pathLst>
              <a:path w="1899" h="2211" extrusionOk="0">
                <a:moveTo>
                  <a:pt x="313" y="844"/>
                </a:moveTo>
                <a:lnTo>
                  <a:pt x="313" y="659"/>
                </a:lnTo>
                <a:cubicBezTo>
                  <a:pt x="313" y="296"/>
                  <a:pt x="574" y="1"/>
                  <a:pt x="945" y="1"/>
                </a:cubicBezTo>
                <a:cubicBezTo>
                  <a:pt x="1316" y="1"/>
                  <a:pt x="1578" y="296"/>
                  <a:pt x="1578" y="659"/>
                </a:cubicBezTo>
                <a:lnTo>
                  <a:pt x="1578" y="844"/>
                </a:lnTo>
                <a:lnTo>
                  <a:pt x="1628" y="844"/>
                </a:lnTo>
                <a:cubicBezTo>
                  <a:pt x="1780" y="844"/>
                  <a:pt x="1898" y="954"/>
                  <a:pt x="1898" y="1106"/>
                </a:cubicBezTo>
                <a:lnTo>
                  <a:pt x="1898" y="1949"/>
                </a:lnTo>
                <a:cubicBezTo>
                  <a:pt x="1898" y="2092"/>
                  <a:pt x="1780" y="2210"/>
                  <a:pt x="1628" y="2210"/>
                </a:cubicBezTo>
                <a:lnTo>
                  <a:pt x="262" y="2210"/>
                </a:lnTo>
                <a:cubicBezTo>
                  <a:pt x="110" y="2210"/>
                  <a:pt x="1" y="2092"/>
                  <a:pt x="1" y="1949"/>
                </a:cubicBezTo>
                <a:lnTo>
                  <a:pt x="1" y="1106"/>
                </a:lnTo>
                <a:cubicBezTo>
                  <a:pt x="1" y="954"/>
                  <a:pt x="110" y="844"/>
                  <a:pt x="262" y="844"/>
                </a:cubicBezTo>
                <a:close/>
                <a:moveTo>
                  <a:pt x="473" y="659"/>
                </a:moveTo>
                <a:cubicBezTo>
                  <a:pt x="473" y="372"/>
                  <a:pt x="675" y="153"/>
                  <a:pt x="945" y="153"/>
                </a:cubicBezTo>
                <a:cubicBezTo>
                  <a:pt x="1215" y="153"/>
                  <a:pt x="1418" y="372"/>
                  <a:pt x="1418" y="659"/>
                </a:cubicBezTo>
                <a:lnTo>
                  <a:pt x="1418" y="844"/>
                </a:lnTo>
                <a:lnTo>
                  <a:pt x="473" y="844"/>
                </a:lnTo>
                <a:close/>
                <a:moveTo>
                  <a:pt x="153" y="1106"/>
                </a:moveTo>
                <a:cubicBezTo>
                  <a:pt x="153" y="1047"/>
                  <a:pt x="203" y="996"/>
                  <a:pt x="262" y="996"/>
                </a:cubicBezTo>
                <a:lnTo>
                  <a:pt x="1628" y="996"/>
                </a:lnTo>
                <a:cubicBezTo>
                  <a:pt x="1687" y="996"/>
                  <a:pt x="1738" y="1047"/>
                  <a:pt x="1738" y="1106"/>
                </a:cubicBezTo>
                <a:lnTo>
                  <a:pt x="1738" y="1949"/>
                </a:lnTo>
                <a:cubicBezTo>
                  <a:pt x="1738" y="2008"/>
                  <a:pt x="1687" y="2050"/>
                  <a:pt x="1628" y="2050"/>
                </a:cubicBezTo>
                <a:lnTo>
                  <a:pt x="262" y="2050"/>
                </a:lnTo>
                <a:cubicBezTo>
                  <a:pt x="203" y="2050"/>
                  <a:pt x="153" y="2008"/>
                  <a:pt x="153" y="1949"/>
                </a:cubicBezTo>
                <a:close/>
              </a:path>
            </a:pathLst>
          </a:custGeom>
          <a:solidFill>
            <a:srgbClr val="FF4AC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400" kern="0">
              <a:solidFill>
                <a:srgbClr val="000000"/>
              </a:solidFill>
              <a:latin typeface="Mona Sans" pitchFamily="2" charset="77"/>
              <a:cs typeface="Arial"/>
              <a:sym typeface="Arial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CLI Hands-On Lab</dc:title>
  <dc:subject>PptxGenJS Presentation</dc:subject>
  <dc:creator>Team Mewpilot</dc:creator>
  <cp:lastModifiedBy>Team Mewpilot</cp:lastModifiedBy>
  <cp:revision>1</cp:revision>
  <dcterms:created xsi:type="dcterms:W3CDTF">2026-07-08T18:57:40Z</dcterms:created>
  <dcterms:modified xsi:type="dcterms:W3CDTF">2026-07-08T18:57:40Z</dcterms:modified>
</cp:coreProperties>
</file>